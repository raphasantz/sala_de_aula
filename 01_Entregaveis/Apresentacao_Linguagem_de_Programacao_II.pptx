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1: presentare o semestre com a arquitetura em camadas no quadro e aplicar o diagnóstico (10 min): o que já sabem de lógica e de banco?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Sequência executa em ordem; seleção decide; repetição repete blocos.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ODBC faz a ponte VB6↔MySQL; ADO envia SQL e recebe Recordset.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Function devolve resultado ao chamador; Sub apenas executa 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Caminhos simples evitam bugs no VB6 e facilitam backup/entrega.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Val converte string em número; Str faz o caminho inverso.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100% laboratório: instale projetando passo a passo; duplas se ajudam; termine com 100% das máquinas mostrando SHOW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100% laboratório: instale projetando passo a passo; duplas se ajudam; termine com 100% das máquinas mostrando SHOW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Provoque falhas ao vivo: pare o serviço, erre a senha — e leia Err.Description com a turma. É a aula que transforma erro em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Provoque falhas ao vivo: pare o serviço, erre a senha — e leia Err.Description com a turma. É a aula que transforma erro em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É o gerente dos dados: criação, consulta, segurança e integridade.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SHOW DATABASES; no cliente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Server = onde; Database = qual banco; Uid/Pwd = quem.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Tratamento de erro em tempo de execução; Err.Description detalha.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Conexão aberta consome recurso do servidor; feche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Escreva o CREATE no projetor com erros propositalmente (vírgula faltando) e deixe a turma achar antes de executar.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Escreva o CREATE no projetor com erros propositalmente (vírgula faltando) e deixe a turma achar antes de executar.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o estrago: DELETE sem WHERE em tabela de teste (e o alívio do INSERT de volta). Memória emocional =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o estrago: DELETE sem WHERE em tabela de teste (e o alívio do INSERT de volta). Memória emocional =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DDL define estrutura; DML manipula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Chave única, não nula, numerada pelo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Sem filtro, o comando vale para todas as linhas — por isso o SELECT de conferência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Connection.Execute; consultas devolvem Recordset.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'Ana Silva' — aspas simples; aspas duplas são do VB6.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Monte as perguntas ANTES dos comandos com a turma ('quantos aprovados por curso?') e deixe que proponham o SQL em duplas antes de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Monte as perguntas ANTES dos comandos com a turma ('quantos aprovados por curso?') e deixe que proponham o SQL em duplas antes de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LIKE com curinga % casa padrões de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DESC = decrescente; ASC (padrão) = crescente.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Agregação calculada dentro de cada grupo definido pelo GROUP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BETWEEN inclui as pontas (fechado nos extremos).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ADODB.Recordset percorrido com Do While Not rs.EOF.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Aulas 25–28: demonstrar cada laço com o MESMO problema (soma de notas até sentinela) e comparar as três soluções no projetor.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Aulas 25–28: demonstrar cada laço com o MESMO problema (soma de notas até sentinela) e comparar as três soluções no projetor.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Select Case compara um valor com casos fixos — menus ficam limpos.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Testa antes de cada volta; pode executar zero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Sem avanço/saída, a condição nunca muda — Ctrl+Break e corrija.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Padrão de leitura até sentinela com Do 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InputBox retorna String; Val converte para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8 = semana do TESTE da A1 (15 pts): reserve a aula 32 para revisão dirigida com o modelo de prova da apostila.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8 = semana do TESTE da A1 (15 pts): reserve a aula 32 para revisão dirigida com o modelo de prova da apostila.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Desenhe a matriz no quadro como grade e “aponte” os índices com dois dedos (i, j) enquanto o laço roda — visual fixa o aninhamento.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Desenhe a matriz no quadro como grade e “aponte” os índices com dois dedos (i, j) enquanto o laço roda — visual fixa o aninhamento.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Array unidimensional com índices explícitos de 1 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Índice variável é o que permite o percurso com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Externo = linhas (i); interno = colunas (j).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Acessar m(4,1) em matriz 3×4, por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Iniciar no 1º elemento garante corretude para qualquer faixa.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lado a lado: CREATE TABLE alunos (...) no MySQL × Public Type Aluno no VB6. A turma percebe que já pensa em banco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lado a lado: CREATE TABLE alunos (...) no MySQL × Public Type Aluno no VB6. A turma percebe que já pensa em banco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Registro: campos de tipos diferentes sob um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Primeiro o índice do vetor, depois o ponto e o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Cada registro = linha; o vetor = conjunto de 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Campo de tamanho fixo — útil em arquivos de registro fixo.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Em memória, agregações são laços com acumulador — no banco,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Laboratório: peça validações criativas (placa de carro, telefone com DDD) — String é o conteúdo mais divertido de validar.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Laboratório: peça validações criativas (placa de carro, telefone com DDD) — String é o conteúdo mais divertido de validar.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Começa na posição 3 e pega 4 caracteres: N G U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0 = não achou; &gt;0 = posição inicial do trecho.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Trim$ corta espaços à esquerda e à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Funções de texto iniciam em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Saída legível com duas casas — padrão de relatórios.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Refatoração ao vivo: comece com 80 linhas em um clique e termine com 4 módulos legíveis. A turma vê o valor da técnica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Refatoração ao vivo: comece com 80 linhas em um clique e termine com 4 módulos legíveis. A turma vê o valor da técnica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Media = (n1+n2)/2 — o nome da Function recebe o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Cópia local; por segurança, declare ByVal explicitamente.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Camada de regras reutilizável em todo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Entrada por parâmetros, saída por retorno; I/O fica com quem chama.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Escopo local: nasce e morre a cada chamada.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a tragédia didática: Output duas vezes seguidas (a 2ª apaga a 1ª) e depois a solução com Append.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a tragédia didática: Output duas vezes seguidas (a 2ª apaga a 1ª) e depois a solução com Append.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 de caso: forneça um alunos.txt com 2 linhas corrompidas e peça o relatório de importação (importadas × recusadas).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 de caso: forneça um alunos.txt com 2 linhas corrompidas e peça o relatório de importação (importadas × recusadas).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Append posiciona no fim; Output recria vazio.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Fim de arquivo — condição de parada do Do 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Evita conflito de #n com outros arquivos abertos.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Array de partes: partes(0), partes(1)...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Buffer não descarregado/arquivo bloqueado — feche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16 termina com a A2 (prova). Aula 64: revisão ativa com o modelo de prova da apostila em duplas + correção comentada.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16 termina com a A2 (prova). Aula 64: revisão ativa com o modelo de prova da apostila em duplas + correção comentada.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de laboratório cheia: circule com o plano de testes impresso; registre os bugs mais criativos para a correção coletiva.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ponteiro não avança: EOF nunca chega.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Acesso ao campo da linha corrente do Recordset.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Em SQL, '' representa uma aspa literal dentro do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Manipulação não retorna Recordset; consulta retorna.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Defesa em camadas: cliente valida, servidor protege, erro tratado.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Provoque o desastre didático: DELETE sem WHERE na tabela de testes e recupere ao vivo com o backup da aula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Provoque o desastre didático: DELETE sem WHERE na tabela de testes e recupere ao vivo com o backup da aula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Laboratório: cada dupla destrói e recupera seu banco de teste — o medo vira procedimento.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Laboratório: cada dupla destrói e recupera seu banco de teste — o medo vira procedimento.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Texto SQL reproduzível em qualquer servidor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cliente mysql executa o script .sql dentro do banco indicado.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Conferência estrutural e de conteúdo após o restauro.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 a cópia de ontem está ruim, a de quinta-feira salva.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Valida o arquivo e o procedimento sem tocar em dados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o laboratório não tiver impressora, gere ‘PDF’ com impressora virtual (Microsoft Print to PDF) — mesmo código, saída em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o laboratório não tiver impressora, gere ‘PDF’ com impressora virtual (Microsoft Print to PDF) — mesmo código, saída em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um cupom real de mercado ao lado do modelo didático: a turma identifica cada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um cupom real de mercado ao lado do modelo didático: a turma identifica cada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Tab posiciona colunas; String desenha separadores.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EndDoc fecha o documento e envia à fila.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Largura fixa por caractere = colunas alinhadas.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Saída de dados: SQL + Recordset alimentam o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Rodapé de fechamento dá a leitura gerencial do conjunto.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o laboratório não tiver o Wizard disponível, documente o roteiro alternativo: pasta rede + atalhos + script de cópia (mesmo conceito de distribuição).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Laboratório gráfico é o recreio dirigido: dê o desafio ‘desenhe a bandeira da escola’ com Line/Circle após o exemplo das barras.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Laboratório gráfico é o recreio dirigido: dê o desafio ‘desenhe a bandeira da escola’ com Line/Circle após o exemplo das barras.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Empacota exe, runtimes, dados e atalhos para distribuição.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Config.ini parametrizável: mesmo pacote em ambientes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Line (x1,y1)-(x2,y2), cor, BF (B = borda, BF = preenchido).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Ponto único — ondas e texturas nascem de laços com PSet.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Ambiente limpo revela dependência esquecida no pacote.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 com o checklist impresso por dupla; marque pendências a lápis para a semana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Sorteie a ordem das apresentações na aula 95; plateia faz 1 pergunta por dupla (registra participação).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Integração é o nome do jogo: todas as camadas do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Escopo fechado = entrega e apresentação confiáveis.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Erro tratado ao vivo é demonstração de qualidade, não defeito.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Conforme o Plano de Ensino; os 10 pts restantes são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Distribuição profissional: instalável e configurável por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-128016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-457200"/>
            <a:ext cx="2377440" cy="2377440"/>
          </a:xfrm>
          <a:prstGeom prst="roundRect">
            <a:avLst>
              <a:gd name="adj" fmla="val 50000"/>
            </a:avLst>
          </a:prstGeom>
          <a:solidFill>
            <a:srgbClr val="1B4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1097280" y="484632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CURSO TÉCNICO EM INFORMÁTICA · EIXO: INFORMAÇÃO E COMUNICAÇÃO · FUPAC/CENTRO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LINGUAGEM 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PROGRAMAÇÃO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310128"/>
            <a:ext cx="283464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BD4EE"/>
                </a:solidFill>
                <a:latin typeface="Segoe UI"/>
              </a:rPr>
              <a:t>Apresentação de aulas — teoria, laboratórios, testes rápidos e avaliações (A1 · A2 · A3) · VB6 + 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754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72 aulas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BD4EE"/>
                </a:solidFill>
                <a:latin typeface="Segoe UI"/>
              </a:rPr>
              <a:t>24 semanas · 3/semana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6177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754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60 h + 10 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BD4EE"/>
                </a:solidFill>
                <a:latin typeface="Segoe UI"/>
              </a:rPr>
              <a:t>presenciais + 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6177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754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12 módulos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BD4EE"/>
                </a:solidFill>
                <a:latin typeface="Segoe UI"/>
              </a:rPr>
              <a:t>6 partes · 3 avaliações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BD9"/>
                </a:solidFill>
                <a:latin typeface="Segoe UI"/>
              </a:rPr>
              <a:t>Material baseado no Plano de Ensino e no Cronograma oficiais · 96 aulas · Turma 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BEM-VINDOS À DISCIPLINA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 curso em 1 minuto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1606F"/>
                </a:solidFill>
                <a:latin typeface="Segoe UI"/>
              </a:rPr>
              <a:t>Ementa oficial: SGBD, conexão, SQL, programação estruturada, vetor/matriz/registro, Strings, modularização, arquivos, cliente/servidor, backup, relatórios, impressão, disco de instalação e gráficos.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Linguagem de Programação II — Curso Técnico em Informática (Turma 2/2026)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96 aulas em 24 semanas · 4 aulas semanais de 50 minutos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80 h presenciais (teoria + prática) e 14 h de atividades orientadas no AVA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Ambiente do curso (S): Visual Basic 6.0 + MySQL (ODBC/ADO)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Do banco de dados ao programa completo: SQL → estruturas → arquivos → cliente/servidor → relatórios → projeto integrador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COMO FUNCIONAM AS AULAS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4 etapas por semana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Etapa 1 — introdução e conceitos fundamentais (teoria dialogada)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Etapa 2 — exemplos orientados e demonstração no projetor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Etapa 3 — atividade prática individual/em grupo no laboratório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Etapa 4 — fixação e verificação da aprendizagem (teste rápido)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Cada semana vira um bloco do app AulaViva e um quiz no QuizWeb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AVALIAÇÕES — 100 PONTOS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A1 · A2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A1 (30 pts): lista prática SQL+estruturas (10) + AVA (5) + teste escrito-prático (15) — semana 8 (S)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A2 (30 pts): prova na semana 16 — Strings, modularização, arquivos, cliente/servidor (duplas/consulta conforme o Plano)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A3 (40 pts): prova final individual (30) + projeto integrador e apresentação (10)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Revisões estratégicas: semana 12 (modularização) e semana 24 (consolidação)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Modelos de prova e rubricas: seção AVALIAÇÕES da apostila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MAPA DO SEMESTRE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Seis partes, quinze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1606F"/>
                </a:solidFill>
                <a:latin typeface="Segoe UI"/>
              </a:rPr>
              <a:t>Cada parte abre um bloco de slides; os módulos trazem teoria, laboratórios e teste rápido.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 — Ambiente, SGBD e Conexão (semanas 1–3)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II — Linguagem SQL (semanas 4–6)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III — Programação Estruturada e Estruturas de Dados (semanas 7–10)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IV — Strings, Modularização e Arquivos (semanas 11–14)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V — Dados Cliente/Servidor e Administração do Banco (semanas 15–18)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VI — Saídas, Distribuição, Gráficos e Projeto Integrador (semanas 19–24)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AMBIENTE, SGBD E CONEXÃO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1 A 12  ·  SEMANAS 1 A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 — Ambientação e linguagem de programação estruturada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2 — SGBD: instalação, configuração e conexão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  ·  AULAS 1 A 4  ·  SEMANA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Ambientação e linguagem de programação estruturada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 — Ambiente, SGBD e Conexão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Compreender o escopo da disciplina e a arquitetura do projeto final.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Reconhecer os três pilares da programação estruturada: sequência, seleção e repetição.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Identificar os componentes do ambiente: IDE VB6, SGBD MySQL, driver ODBC e biblioteca ADO.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Organizar o ambiente de trabalho e executar o primeiro programa VB6.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Ambientação, linguagem estruturada e primeiro programa VB6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Do programa isolado ao sistema com banco de dados, relatórios e instalação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Programação estruturada: sequência · seleção · repetição (sem GOTO solto)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Ambiente (S): VB6 + MySQL via ODBC/ADO (plano B: Access)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Arquitetura do projeto: dados → acesso SQL → lógica modular → telas/relatórios → instalador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96 aulas = 24 semanas × 4 etapas; A1/A2/A3 = 30/30/40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Código em Modules/Forms; Sub executa, Function retorna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Form_Load / cliques de botão = pontos de entrada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Sequência, seleção (If) e repetição (For) — os 3 pilares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Padrão de pastas: C:\LP2\S01..S24 + PROJETO (sem acentos)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Backup semanal no Drive = hábito profissional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Diagnóstico de lógica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Sem computador: escreva em pseudocódigo (ou desenhe) um algoritmo que leia 3 notas, calcule a média e imprima a situação (&gt;=7 aprovado; &gt;=5 recuperação; senão reprovado). Identifique no seu algoritmo onde está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Organização do ambiente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a estrutura de pastas do semestre (LP2\S01..S04 + PROJETO), abra o VB6, crie um projeto novo salvo em LP2\S01\ola.vbp e faça o Form_Load imprimir seu nome e a data de hoje (use Date).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As três estruturas na prática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No mesmo projeto: adicione um botão que leia um número por InputBox e use If para dizer se é par ou impar (Mod); adicione outro botão que imprima com For a tabuada desse número de 1 a 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Programação estruturada se apoia em três estruturas: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entrada, processamento e saída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sequência, seleção e repetição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variáveis, constantes e funções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telas, relatórios e bancos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ambiente do curso (S), quem conversa diretamente com o MySQL a partir do VB6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objeto Printer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driver ODBC + biblioteca 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Package &amp; Deployment Wizard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explorador de arquivos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Sub difere de uma Function porque: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Sub retorna valor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Function retorna valor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Sub só roda em Modules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há diferença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padrão de organização de pastas adotado no curso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tudo na área de trabalho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LP2\S01..S24 + PROJETO, sem acentos/espaços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pasta por aluno no pendrive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pastas com nome das disciplinas por extenso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converter o texto do InputBox em número usamos: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Str()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Val()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Mid()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Len()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2  ·  AULAS 5 A 12  ·  SEMANAS 2 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SGBD: instalação, configuração e conexão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 — Ambiente, SGBD e Conexão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Explicar o que é um SGBD e instalar/configurar o MySQL no laboratório.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Validar o ambiente com comandos básicos do cliente MySQL.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Compreender conexão: parâmetros, abertura, fechamento e string de conexão.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Tratar falhas básicas de conexão no VB6 (On Error).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2 ·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SGBD — instalação e configuração (semana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SGBD = software que guarda/organiza/protege dados; todos falam SQL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MySQL: installer → Server only → senha root → serviço ativo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Validação: mysql -u root -p → SHOW DATABASES;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CREATE DATABASE escola; USE escola; = nosso parque de estudos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SQL termina com ; — sempre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2 · AULA 2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Validação do ambiente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mysql -u root -p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SHOW DATABASES;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CREATE DATABASE escola;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USE escola;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2 · AULA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SGBD — conexão: parâmetros, abertura e falhas (semana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Conexão = canal cliente↔servidor com driver, servidor, banco e credenciais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ADODB.Connection + connection string no VB6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On Error GoTo Falha + Err.Description = tratamento básico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Sempre fechar a conexão ao terminar (cn.Close)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Falhas clássicas: serviço parado, senha, driver, banco inexistente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2 · AULA 3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Núcleo da conexão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Set cn = New ADODB.Connection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cn.ConnectionString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"Driver={MySQL ODBC 8.0 Driver};"</a:t>
            </a:r>
            <a:r>
              <a:rPr sz="1350" b="0">
                <a:solidFill>
                  <a:srgbClr val="DCE9F7"/>
                </a:solidFill>
                <a:latin typeface="Consolas"/>
              </a:rPr>
              <a:t> &amp; _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9ECE6A"/>
                </a:solidFill>
                <a:latin typeface="Consolas"/>
              </a:rPr>
              <a:t>"Server=localhost;Database=escola;Uid=root;Pwd=aluno123;"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cn.Open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Instalação validada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Instale (ou valide) o MySQL na sua máquina: entre no cliente, rode SHOW DATABASES;, crie o banco escola e dentro dele a tabela turma(id INT PRIMARY KEY AUTO_INCREMENT, nome VARCHAR(40)). Cole a saída no caderno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Conexão VB6 → MySQL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o projeto ConexaoS03 com o módulo Conexao.bas (modelo da aula) e um formulário com botões Conectar/Desconectar que mostrem o status (conectado/falhado) em um Label.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Mapa da conexão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Desenhe o fluxo cliente/servidor da conexão (VB6 → ODBC → MySQL) e explique com suas palavras o papel de cada parâmetro da connection string e o que acontece em cada falha simulada no laboratório.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SGBD existe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substituir o sistema operacional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armazenar, organizar e controlar o acesso aos dados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compilar programas VB6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desenhar formulários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comando que lista os bancos do servidor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LIST ALL;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SHOW DATABASES;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SELECT BANKS;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DIR /B;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Na string de conexão, o parâmetro Database indica: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nome do driver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banco selecionado ao conectar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porta do servidor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nome do formulário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On Error GoTo Falha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apagar erros do código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desviar a execução para um rótulo quando ocorrer erro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impedir erros de sintaxe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reiniciar o programa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Ao terminar de usar o banco, o programa deve: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deixar a conexão aberta para a próxima vez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fechar a conexão (cn.Close)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desinstalar o driver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reiniciar o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LINGUAGEM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13 A 24  ·  SEMANAS 4 A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3 — SQL: fundamentos e manipulação de dados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4 — SQL — consultas e filtros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3  ·  AULAS 13 A 20  ·  SEMANAS 4 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SQL: fundamentos e manipulação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 — Linguagem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Diferenciar DDL (estrutura) de DML (dados) e escrever CREATE TABLE adequado.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Inserir, alterar e excluir dados com INSERT, UPDATE e DELETE seguros.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Consultar dados com SELECT simples.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Integrar instruções SQL ao programa VB6 via cn.Execute.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SQL — fundamentos: criar e consultar (semana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DDL define estrutura (CREATE/ALTER/DROP); DML cuida dos dados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CREATE TABLE com tipos certos + PRIMARY KEY AUTO_INCREMENT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SELECT colunas FROM tabela = consulta mínima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Scripts .sql salvos por semana = caderno de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4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CREATE + SELECT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CREATE TABLE </a:t>
            </a:r>
            <a:r>
              <a:rPr sz="1350" b="0">
                <a:solidFill>
                  <a:srgbClr val="6CB6FF"/>
                </a:solidFill>
                <a:latin typeface="Consolas"/>
              </a:rPr>
              <a:t>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id INT PRIMARY KEY AUTO_INCREMENT,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nome </a:t>
            </a:r>
            <a:r>
              <a:rPr sz="1350" b="0">
                <a:solidFill>
                  <a:srgbClr val="6CB6FF"/>
                </a:solidFill>
                <a:latin typeface="Consolas"/>
              </a:rPr>
              <a:t>VARCHAR</a:t>
            </a:r>
            <a:r>
              <a:rPr sz="1350" b="0">
                <a:solidFill>
                  <a:srgbClr val="DCE9F7"/>
                </a:solidFill>
                <a:latin typeface="Consolas"/>
              </a:rPr>
              <a:t>(40) NOT NULL,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nota </a:t>
            </a:r>
            <a:r>
              <a:rPr sz="1350" b="0">
                <a:solidFill>
                  <a:srgbClr val="6CB6FF"/>
                </a:solidFill>
                <a:latin typeface="Consolas"/>
              </a:rPr>
              <a:t>DECIMAL</a:t>
            </a:r>
            <a:r>
              <a:rPr sz="1350" b="0">
                <a:solidFill>
                  <a:srgbClr val="DCE9F7"/>
                </a:solidFill>
                <a:latin typeface="Consolas"/>
              </a:rPr>
              <a:t>(3,1));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SELECT nome, nota FROM alunos;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SQL — manipulação: INSERT, UPDATE, DELETE + VB6 (semana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INSERT colunas VALUES (...); UPDATE/DELETE SEMPRE com WHERE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SELECT com o mesmo WHERE antes de manipular (conferência)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VB6: cn.Execute envia o SQL ao servidor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Concatenação &amp; monta o comando agora; consciência de injeção de SQL desde já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5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Manipulação segura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UPDATE alunos SET nota = 7.0 WHERE id = 2;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DELETE FROM alunos WHERE id = 3;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-- antes: SELECT * FROM alunos WHERE id = 2;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Script completo da semana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Entregue um script .sql com: CREATE TABLE produtos(id, nome, preco DECIMAL(7,2), estoque INT); 5 INSERT; 2 UPDATE com WHERE; 1 DELETE com WHERE; e 3 SELECT (todos os campos; só nome e preco; só os com estoque 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Manipulação pelo VB6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Formulário com 2 botões: ‘Cadastrar’ (InputBox nome e nota → InserirAluno) e ‘Corrigir nota’ (InputBox id e nova nota → SubirNota). Mostre MsgBox de confirmação.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Caça ao erro SQL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Cada comando abaixo tem 1 erro. Identifique e corrija: (a) INSERT alunos VALUES ('Ana'); (b) UPDATE alunos SET nota = 9; (c) SELECT nome FROM alunos WHERE nota = '8,5'; (d) DELETE FROM alunos WHERE nome = 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CREATE TABLE pertence a qual família do SQL?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DDL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PRIMARY KEY AUTO_INCREMENT garante: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valores duplicados permitidos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identificador único gerado automaticamente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ordenação alfabética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criptografia da coluna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UPDATE sem WHERE: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altera a primeira linha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altera todas as linhas da tabela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dá erro de sintaxe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faz 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VB6, enviamos um comando SQL ao servidor com: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cn.Execute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Printer.Print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Form_Load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MsgBox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Strings em SQL são escritas com: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aspas duplas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aspas simples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sem aspas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4  ·  AULAS 21 A 24  ·  SEMANA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SQL — consultas e filtros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 — Linguagem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Filtrar linhas com WHERE (comparação, BETWEEN, LIKE, IN).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Ordenar resultados com ORDER BY (ASC/DESC).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Resumir dados com funções de agregação (COUNT, SUM, AVG, MAX, MIN) e GROUP BY.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consultas em cenários reais de dados (estudo de caso).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Consultas que respondem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WHERE: =, &gt;=, BETWEEN, LIKE 'A%', IN (...) — e AND/OR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ORDER BY col ASC|DESC organiza a resposta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COUNT/SUM/AVG/MAX/MIN resumem; GROUP BY resume POR GRUPO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Cada pergunta de negócio = uma consulta (estudo de caso da loja)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6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Consulta gerencial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09728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SELECT curso, </a:t>
            </a:r>
            <a:r>
              <a:rPr sz="1350" b="0">
                <a:solidFill>
                  <a:srgbClr val="6CB6FF"/>
                </a:solidFill>
                <a:latin typeface="Consolas"/>
              </a:rPr>
              <a:t>COUNT</a:t>
            </a:r>
            <a:r>
              <a:rPr sz="1350" b="0">
                <a:solidFill>
                  <a:srgbClr val="DCE9F7"/>
                </a:solidFill>
                <a:latin typeface="Consolas"/>
              </a:rPr>
              <a:t>(*) qtd, </a:t>
            </a:r>
            <a:r>
              <a:rPr sz="1350" b="0">
                <a:solidFill>
                  <a:srgbClr val="6CB6FF"/>
                </a:solidFill>
                <a:latin typeface="Consolas"/>
              </a:rPr>
              <a:t>AVG</a:t>
            </a:r>
            <a:r>
              <a:rPr sz="1350" b="0">
                <a:solidFill>
                  <a:srgbClr val="DCE9F7"/>
                </a:solidFill>
                <a:latin typeface="Consolas"/>
              </a:rPr>
              <a:t>(nota) media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FROM alunos GROUP BY curso ORDER BY media DESC;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Dez perguntas, dez consultas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No banco escola (alunos, produtos, vendas): escreva e execute 10 consultas: 3 com WHERE simples, 2 com LIKE/BETWEEN, 2 com ORDER BY, 3 com agregação (uma delas com GROUP BY). Salve no script consultas_s06.sql.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Consultas no VB6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Formulário com ListBox e botão ‘Listar aprovados’: use cn.Execute com SELECT ... WHERE nota &gt;= 7 ORDER BY nome e preencha o ListBox percorrendo o Recordset (Do While Not rs.EOF).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Relatório em papel de uma consulta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Escolha uma consulta com GROUP BY do exercício 1 e desenhe no caderno a tabela de resultado (colunas e linhas) exatamente como o MySQL devolveria.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filtrar nomes que começam com ‘A’: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WHERE nome = 'A'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WHERE nome LIKE 'A%'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WHERE nome IN 'A'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WHERE LEFT(nome) =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ORDER BY nota DESC exibe: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das menores para as maiores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das maiores para as menores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em ordem de inserção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aleatoriamente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COUNT(*) com GROUP BY curso retorna: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total geral de alunos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quantidade de alunos por curso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número de cursos existentes apenas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média por curso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BETWEEN 5 AND 7 equivale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nota &gt; 5 AND nota &lt;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nota &gt;= 5 AND nota &lt;=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nota IN (5,7)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nota = 5 OR nota =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VB6, o resultado de um SELECT chega como: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MsgBox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Recordset (ADO)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arquivo 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Printer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AVALIAÇÃO 1 — 30 pts (semanas 1 a 8)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Trabalho prático de HTML “site da empresa fictícia” — 10 pts (entrega semana 6)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Atividades extraclasse/AVA e exercícios — 5 pts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Teste escrito-prático sobre Web e HTML — 15 pts (semana 8)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Modelo do teste e rubrica do trabalho: seção AVALIAÇÕES da apostila.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III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PROGRAMAÇÃO ESTRUTURADA E ESTRUTURAS DE DADOS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25 A 40  ·  SEMANAS 7 A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5 — Programação estruturada no VB6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6 — Vetores e matrizes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7 — Registros: agrupando informações relacionadas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5  ·  AULAS 25 A 28  ·  SEMANA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Programação estruturada no VB6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III — Programação Estruturada e Estruturas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sequência, seleção (If/Select Case) e repetição (For/Do/While) no VB6.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Escolher a estrutura de controle adequada a cada problema.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Organizar o código com indentação, comentários e nomes claros.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Resolver problemas clássicos de lógica com laços e decisões.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Seleção e repetição: o cânone estruturado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If/ElseIf/Else para faixas; Select Case para menus/valores fixos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 = voltas conhecidas · Do While = enquanto · Do Until = até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While...Wend existe, mas o curso padroniza Do (mais claro)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Organização: indentação, comentários de porquê, Sub com uma responsabilidade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Sentinela -1 e Ctrl+Break contra laços infinitos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7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Menu com Select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Select Case opcao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Case 1: Call CadastrarAluno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Case 2: Call ListarAlunos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Case Else: MsgBox </a:t>
            </a:r>
            <a:r>
              <a:rPr sz="1350" b="0">
                <a:solidFill>
                  <a:srgbClr val="9ECE6A"/>
                </a:solidFill>
                <a:latin typeface="Consolas"/>
              </a:rPr>
              <a:t>"Opção inválida"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End Select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Calculadora estruturada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Formulário com dois Text (n1, n2) e um Combo de operação (+, -, *, /): ao clicar em =, use Select Case para calcular e Label para o resultado; trate divisão por zero com MsgBox (If).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Leitura até sentinela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Com Do While, leia notas até o usuário digitar -1; ao final mostre quantidade, soma, média, maior e menor nota (variáveis de acompanhamento).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Refatoração dirigida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O código abaixo funciona, mas está desorganizado. Reescreva-o com indentação, comentários de porquê, nomes claros e um Select Case no lugar dos Ifs encadeados de menu: (código com 6 Ifs aninhados sem indentação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um menu com opções fixas 1, 2 e 3, a estrutura mais legível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If aninhados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Select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Do Until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Do While repete: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sempre ao menos uma vez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enquanto a condição for verdadeira (teste antes)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até a condição virar verdadeira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número fixo de voltas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laço infinito geralmente acontece por: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excesso de comentários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variável de controle que nunca torna a condição falsa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usar Print dentro do laço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declarar Dim dentro do laço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Sentinela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erro de execução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valor combinado que encerra a leitura (ex.: -1)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variável global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tipo de laço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Val(InputBox(...))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exibir texto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converter o texto digitado em número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validar senha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fechar a janela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6  ·  AULAS 29 A 36  ·  SEMANAS 8 A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Vetores e matrizes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III — Programação Estruturada e Estruturas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Declarar, preencher, ler e processar vetores (arrays unidimensionais).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Trabalhar com matrizes (duas dimensões) e laços aninhados.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Resolver problemas clássicos: média, maior/menor, busca, somas por linha/coluna.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Combinar vetores/matrizes com laços e decisões de forma organizada.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Vetores: muitas caixinhas, um nome só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Dim notas(1 To 10) As Single — 10 posições sob um nome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Índice variável (i) = percorrer com laço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Clássicos: soma/média, maior/menor, busca por posição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Maior/menor iniciam no 1º elemento, laço começa no 2º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8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Percorrer e processar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For i = 1 To 10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soma = soma + </a:t>
            </a:r>
            <a:r>
              <a:rPr sz="1350" b="0">
                <a:solidFill>
                  <a:srgbClr val="6CB6FF"/>
                </a:solidFill>
                <a:latin typeface="Consolas"/>
              </a:rPr>
              <a:t>notas</a:t>
            </a:r>
            <a:r>
              <a:rPr sz="1350" b="0">
                <a:solidFill>
                  <a:srgbClr val="DCE9F7"/>
                </a:solidFill>
                <a:latin typeface="Consolas"/>
              </a:rPr>
              <a:t>(i)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Next 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Matrizes: linhas e colunas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Dim m(1 To 3, 1 To 4): linhas × colunas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Laço externo = linha (i); interno = coluna (j)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Acumulador por linha zera DENTRO do laço externo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'Subscript out of range' = índice fora da faixa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9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Varredura padrão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19456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For i = 1 To 3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For j = 1 To 4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    Print </a:t>
            </a:r>
            <a:r>
              <a:rPr sz="1350" b="0">
                <a:solidFill>
                  <a:srgbClr val="6CB6FF"/>
                </a:solidFill>
                <a:latin typeface="Consolas"/>
              </a:rPr>
              <a:t>m</a:t>
            </a:r>
            <a:r>
              <a:rPr sz="1350" b="0">
                <a:solidFill>
                  <a:srgbClr val="DCE9F7"/>
                </a:solidFill>
                <a:latin typeface="Consolas"/>
              </a:rPr>
              <a:t>(i, j);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Next j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Print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Next 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Vetor completo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Leia 8 temperaturas em um vetor; mostre: média, maior, menor, quantas acima da média e a posição da maior.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Matriz de notas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Matriz 4 alunos × 3 bimestres: preencha por InputBox; mostre a média de cada aluno (por linha), a média de cada bimestre (por coluna) e a maior nota com sua posição.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Busca no vetor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Escreva de memória o padrão de busca: ler um valor e informar a posição dele no vetor de 10 notas (ou ‘não encontrado’). Depois explique por que pos = 0 antes do laço é essencial.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Dim v(1 To 5) As Integer cria: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5 variáveis chamadas v1..v5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vetor com posições 1 a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matriz 5×5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vetor de textos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percorrer todo o vetor, o índice usado no acesso deve ser: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fixo (v(1))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variável do laço (v(i))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sempre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InputBox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Na varredura de matriz, o laço EXTERNO normalmente percorre: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as colunas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as linhas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as diagonais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os índices aleatórios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‘Subscript out of range’ significa: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variável não declarada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índice fora dos limites declarados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divisão por zero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arquivo não encontrado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achar o maior valor de um vetor de notas (que podem ser negativas), inicialize maior com: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primeiro elemento do vetor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número aleatório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SEMANA 8 — TESTE ESCRITO-PRÁTICO DA A1 (15 pts)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Conteúdo: Web (cliente/servidor, URL, DNS, hospedagem) + HTML (módulos 3 a 5)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Parte A: 6 objetivas · Parte B: 3 práticas (escrever/corrigir código)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Modelo completo na seção AVALIAÇÕES da apostila — use como revisão!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7  ·  AULAS 37 A 40  ·  SEMANA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Registros: agrupando informações relacionadas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III — Programação Estruturada e Estruturas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Definir tipos estruturados com Type/End Type.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Declarar variáveis e vetores de registros.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Acessar campos com o operador ponto e processar coleções de registros.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Modelar entidades reais (aluno, produto) com registros.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Registros (Type): a ficha dentro do programa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Public Type ... End Type define a ficha (campos de tipos diferentes)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Acesso por ponto: a.nome, turma(i).nota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Vetor de registros = tabela em memória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Ponte conceitual: registro ↔ linha de tabela no MySQL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10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Registro + coleção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Public Type Aluno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nome As String * 40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nota As Single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End Type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Dim </a:t>
            </a:r>
            <a:r>
              <a:rPr sz="1350" b="0">
                <a:solidFill>
                  <a:srgbClr val="6CB6FF"/>
                </a:solidFill>
                <a:latin typeface="Consolas"/>
              </a:rPr>
              <a:t>turma</a:t>
            </a:r>
            <a:r>
              <a:rPr sz="1350" b="0">
                <a:solidFill>
                  <a:srgbClr val="DCE9F7"/>
                </a:solidFill>
                <a:latin typeface="Consolas"/>
              </a:rPr>
              <a:t>(1 To 30) As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Ficha do produto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Defina o Type Produto (codigo, descricao, preco, estoque); cadastre 5 produtos em um vetor; liste os produtos com estoque &lt; 5 (reposição) e o valor total do estoque (preco × estoque somado).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Turma completa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Vetor de 10 registros Aluno: leia nome/matrícula/nota; mostre aprovados, reprovados, média da turma e o nome do aluno de maior nota.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Modelagem no papel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Para um controle de biblioteca, defina no caderno os Types Livro e Emprestimo (campos e tipos) e explique como um vetor de cada um representaria as ‘tabelas’ do sistema.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Public Type Aluno ... End Type define: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formulário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tipo estruturado (registro)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banco de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acesso ao campo nota do i-ésimo aluno de um vetor de registros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turma.nota(i)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turma(i).nota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nota.turma(i)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turma[i,nota]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vetor de registros equivale, no mundo do banco,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coluna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tabela em memória (conjunto de linhas)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índice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String * 40 em um Type significa: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texto de até 40 caracteres com tamanho fixo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40 strings diferentes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texto ilimitado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número de 40 dígitos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somar o valor total do estoque (preco × estoque) percorrendo um vetor de Produtos, usamos: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laço com acumulador: total = total + p(i).preco * p(i).estoque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SUM(preco) como no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Print p.preco * p.estoque sem laço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Count(p)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IV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STRINGS, MODULARIZAÇÃO E ARQUIVOS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41 A 56  ·  SEMANAS 11 A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8 — Variáveis do tipo String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9 — Modularização: Sub, Function e Modules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10 — Arquivos e textos como transferência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8  ·  AULAS 41 A 44  ·  SEMANA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Variáveis do tipo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IV — Strings, Modularização e Arquivos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Armazenar, ler e exibir textos com variáveis String.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as funções de manipulação: Len, Mid$, Left$, Right$, UCase$, LCase$, Trim$, InStr, Replace.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Validar e normalizar entradas de texto (caixa, espaços, padrões).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Combinar Strings com números (Val, Str, Format) em saídas legíveis.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String: o texto como 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Len, Trim$, UCase$, LCase$, Left$, Right$, Mid$, InStr, Replace$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Posições começam em 1; InStr = 0 quando não acha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Validação: comprimento, presença de espaço, caixa padronizada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Format(n, "0.00") e Format(Date, "dd/mm/yyyy") para saídas legíveis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11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Normalizar entrada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nome = UCase$(Trim$(</a:t>
            </a:r>
            <a:r>
              <a:rPr sz="1350" b="0">
                <a:solidFill>
                  <a:srgbClr val="6CB6FF"/>
                </a:solidFill>
                <a:latin typeface="Consolas"/>
              </a:rPr>
              <a:t>InputBox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"Nome:"</a:t>
            </a:r>
            <a:r>
              <a:rPr sz="1350" b="0">
                <a:solidFill>
                  <a:srgbClr val="DCE9F7"/>
                </a:solidFill>
                <a:latin typeface="Consolas"/>
              </a:rPr>
              <a:t>)))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If </a:t>
            </a:r>
            <a:r>
              <a:rPr sz="1350" b="0">
                <a:solidFill>
                  <a:srgbClr val="6CB6FF"/>
                </a:solidFill>
                <a:latin typeface="Consolas"/>
              </a:rPr>
              <a:t>Len</a:t>
            </a:r>
            <a:r>
              <a:rPr sz="1350" b="0">
                <a:solidFill>
                  <a:srgbClr val="DCE9F7"/>
                </a:solidFill>
                <a:latin typeface="Consolas"/>
              </a:rPr>
              <a:t>(nome) &lt; 5 Or </a:t>
            </a:r>
            <a:r>
              <a:rPr sz="1350" b="0">
                <a:solidFill>
                  <a:srgbClr val="6CB6FF"/>
                </a:solidFill>
                <a:latin typeface="Consolas"/>
              </a:rPr>
              <a:t>InStr</a:t>
            </a:r>
            <a:r>
              <a:rPr sz="1350" b="0">
                <a:solidFill>
                  <a:srgbClr val="DCE9F7"/>
                </a:solidFill>
                <a:latin typeface="Consolas"/>
              </a:rPr>
              <a:t>(nome, </a:t>
            </a:r>
            <a:r>
              <a:rPr sz="1350" b="0">
                <a:solidFill>
                  <a:srgbClr val="9ECE6A"/>
                </a:solidFill>
                <a:latin typeface="Consolas"/>
              </a:rPr>
              <a:t>" "</a:t>
            </a:r>
            <a:r>
              <a:rPr sz="1350" b="0">
                <a:solidFill>
                  <a:srgbClr val="DCE9F7"/>
                </a:solidFill>
                <a:latin typeface="Consolas"/>
              </a:rPr>
              <a:t>) = 0 Then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MsgBox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 inválido"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Caixa de ferramentas de String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Leia uma frase e mostre: comprimento sem espaços nas pontas; frase em caixa alta e baixa; primeira e última palavra; posição da palavra ‘VB’; frase sem a palavra ‘não’ (Replace).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Validador de matrículas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Matrícula padrão: 2 letras + 4 números (ex.: AB1234). Leia uma string e valide formato e comprimento com Len/Mid$/IsNumeric; mostre OK ou o motivo da recusa.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Recibo formatado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Monte um ‘recibo’ em um Label multilinha: nome em caixa alta, data dd/mm/yyyy, valor Format(v, "R$ #,##0.00") e linha separadora String(40, "-").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Mid$("LINGUAGEM", 3, 4) retorna: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"LING"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"NGUA"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"GUAG"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"AGEM"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InStr retorna 0 quando: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encontra no início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encontra o trecho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texto está vazio de espaços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texto é numérico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remover espaços das pontas de um texto digitado: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Trim$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Mid$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Left$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Replace$ com " 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VB6, as posições de String contam a partir 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depende do Option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Format(7.25, "0.00") produz: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7,25 como texto formatado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725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7.250000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erro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9  ·  AULAS 45 A 48  ·  SEMANA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Modularização: Sub, Function 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IV — Strings, Modularização e Arquivos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Dividir programas em Sub e Function com responsabilidades únicas.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Usar parâmetros (ByVal/ByRef) e retorno de valores.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Organizar código em Modules (.bas) com escopos Public/Private.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Refatorar código monolítico em módulos reutilizáveis.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Modularização: dividir para conquistar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Function retorna (nome da Function = retorno); Sub executa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ByVal = cópia segura; ByRef = original (padrão VB6: declare ByVal!)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Modules por assunto com Public/Private; globals com parcimônia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Refatorar: formulário orquestra, módulos sabem fazer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12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Retorno por nome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Public Function </a:t>
            </a:r>
            <a:r>
              <a:rPr sz="1350" b="0">
                <a:solidFill>
                  <a:srgbClr val="6CB6FF"/>
                </a:solidFill>
                <a:latin typeface="Consolas"/>
              </a:rPr>
              <a:t>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(n1 As Single, n2 As Single) As Single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Media = (n1 + n2) / 2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End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Biblioteca de funções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Calculos.bas com: Media(n1,n2), MaiorDe3(a,b,c), EhPar(n) e PorExtensoDezena(n) (10..19). Teste todas em um formulário com botões.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ByVal × ByRef na prática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Implemente Sub Trocar(ByRef a, ByRef b) que inverte dois valores e Sub TrocarCopia(ByVal a, ByVal b) que não muda nada fora; demonstre a diferença com Print.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Refatoração do monólito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Refatore o menu monolítico da semana 7 em: Regras.bas (Functions), Saida.bas (Subs) e formulário orquestrador com Select Case chamando as Subs.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valor de retorno de uma Function no VB6 é atribuído: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à palavra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ao próprio nome da Function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uma variável global obrigatória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ao parâmetro ByRef sempre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ByVal significa que o parâmetro: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é a própria variável do chamador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recebe uma cópia (original protegido)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deve ser numérico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é opcional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Modules .bas com rotinas Public servem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guardar telas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compartilhar regras entre formulários do projeto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substituir o banco de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compilar mais rápido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Uma Function ‘pura’, no padrão do curso: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usa MsgBox para pedir dados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conversa com o usuário: só recebe e retorna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imprime com 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grava arquivo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Variável declarada dentro de uma Sub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local à execução da Sub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pública do módulo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estática permanente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10  ·  AULAS 49 A 56  ·  SEMANAS 13 A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Arquivos e textos como transferência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IV — Strings, Modularização e Arquivos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Gravar e ler arquivos texto com Open/Close, Print #, Input # e Line Input #.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Usar modos For Output, For Input e For Append corretamente.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Detectar fim de arquivo com EOF e numerar arquivos com FreeFile.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Integrar arquivos aos dados do programa: importação/exportação em fluxo controlado.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Arquivos texto: gravar e 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Ciclo: Open → Print #/Line Input # → Close (sempre!)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Output substitui · Append acrescenta · Input só lê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Do While Not EOF(n) percorre até o fim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FreeFile evita conflito de números de arquivo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13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Leitura segura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19456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n = FreeFile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Open arq For Input As </a:t>
            </a:r>
            <a:r>
              <a:rPr sz="1350" b="0">
                <a:solidFill>
                  <a:srgbClr val="7F96AD"/>
                </a:solidFill>
                <a:latin typeface="Consolas"/>
              </a:rPr>
              <a:t>#n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Do While Not </a:t>
            </a:r>
            <a:r>
              <a:rPr sz="1350" b="0">
                <a:solidFill>
                  <a:srgbClr val="6CB6FF"/>
                </a:solidFill>
                <a:latin typeface="Consolas"/>
              </a:rPr>
              <a:t>EOF</a:t>
            </a:r>
            <a:r>
              <a:rPr sz="1350" b="0">
                <a:solidFill>
                  <a:srgbClr val="DCE9F7"/>
                </a:solidFill>
                <a:latin typeface="Consolas"/>
              </a:rPr>
              <a:t>(n)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Line Input </a:t>
            </a:r>
            <a:r>
              <a:rPr sz="1350" b="0">
                <a:solidFill>
                  <a:srgbClr val="7F96AD"/>
                </a:solidFill>
                <a:latin typeface="Consolas"/>
              </a:rPr>
              <a:t>#n, linha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Loop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Close </a:t>
            </a:r>
            <a:r>
              <a:rPr sz="1350" b="0">
                <a:solidFill>
                  <a:srgbClr val="7F96AD"/>
                </a:solidFill>
                <a:latin typeface="Consolas"/>
              </a:rPr>
              <a:t>#n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Arquivos + dados: importação/exportação controlada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Split(linha, ";") quebra a linha em campos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Importar: validar linha a linha antes de popular o vetor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Exportar: Format nos números para padronizar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Dir(caminho) &lt;&gt; "" verifica existência antes de abrir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Linhas inválidas: conte e reporte, não trave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14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Importação com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partes = </a:t>
            </a:r>
            <a:r>
              <a:rPr sz="1350" b="0">
                <a:solidFill>
                  <a:srgbClr val="6CB6FF"/>
                </a:solidFill>
                <a:latin typeface="Consolas"/>
              </a:rPr>
              <a:t>Split</a:t>
            </a:r>
            <a:r>
              <a:rPr sz="1350" b="0">
                <a:solidFill>
                  <a:srgbClr val="DCE9F7"/>
                </a:solidFill>
                <a:latin typeface="Consolas"/>
              </a:rPr>
              <a:t>(linha, </a:t>
            </a:r>
            <a:r>
              <a:rPr sz="1350" b="0">
                <a:solidFill>
                  <a:srgbClr val="9ECE6A"/>
                </a:solidFill>
                <a:latin typeface="Consolas"/>
              </a:rPr>
              <a:t>";"</a:t>
            </a:r>
            <a:r>
              <a:rPr sz="1350" b="0">
                <a:solidFill>
                  <a:srgbClr val="DCE9F7"/>
                </a:solidFill>
                <a:latin typeface="Consolas"/>
              </a:rPr>
              <a:t>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6CB6FF"/>
                </a:solidFill>
                <a:latin typeface="Consolas"/>
              </a:rPr>
              <a:t>turma</a:t>
            </a:r>
            <a:r>
              <a:rPr sz="1350" b="0">
                <a:solidFill>
                  <a:srgbClr val="DCE9F7"/>
                </a:solidFill>
                <a:latin typeface="Consolas"/>
              </a:rPr>
              <a:t>(qt).nome = </a:t>
            </a:r>
            <a:r>
              <a:rPr sz="1350" b="0">
                <a:solidFill>
                  <a:srgbClr val="6CB6FF"/>
                </a:solidFill>
                <a:latin typeface="Consolas"/>
              </a:rPr>
              <a:t>partes</a:t>
            </a:r>
            <a:r>
              <a:rPr sz="1350" b="0">
                <a:solidFill>
                  <a:srgbClr val="DCE9F7"/>
                </a:solidFill>
                <a:latin typeface="Consolas"/>
              </a:rPr>
              <a:t>(0)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6CB6FF"/>
                </a:solidFill>
                <a:latin typeface="Consolas"/>
              </a:rPr>
              <a:t>turma</a:t>
            </a:r>
            <a:r>
              <a:rPr sz="1350" b="0">
                <a:solidFill>
                  <a:srgbClr val="DCE9F7"/>
                </a:solidFill>
                <a:latin typeface="Consolas"/>
              </a:rPr>
              <a:t>(qt).nota = </a:t>
            </a:r>
            <a:r>
              <a:rPr sz="1350" b="0">
                <a:solidFill>
                  <a:srgbClr val="6CB6FF"/>
                </a:solidFill>
                <a:latin typeface="Consolas"/>
              </a:rPr>
              <a:t>Val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6CB6FF"/>
                </a:solidFill>
                <a:latin typeface="Consolas"/>
              </a:rPr>
              <a:t>partes</a:t>
            </a:r>
            <a:r>
              <a:rPr sz="1350" b="0">
                <a:solidFill>
                  <a:srgbClr val="DCE9F7"/>
                </a:solidFill>
                <a:latin typeface="Consolas"/>
              </a:rPr>
              <a:t>(2))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Diário de classe em arquivo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Grave com Append as chamadas diárias (data;matricula;presença) em diario.txt; crie botão que liste todo o arquivo em um ListBox usando EOF.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Importação com validação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Importe alunos.txt (nome;matricula;nota) para o vetor turma com validação por linha (3 partes, nota numérica); ao final mostre: importadas, recusadas e média dos importados.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Export → Import round-trip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Explique por que exportar com Format(nota, "0.0") e importar com Val mantém o round-trip íntegro; o que aconteceria sem o Format em notas como 8.25?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ACRESCENTAR linhas sem apagar o conteúdo existente, abre-se com: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 Append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 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EOF(n) retorna True quando: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arquivo foi aberto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leitura chegou ao fim do arquivo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houve erro de disco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arquivo está vazio de linhas válidas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FreeFile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liberar memória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obter um número de arquivo livre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apagar o arquivo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fechar todos os arquivos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Split(linha, ";") devolve: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texto único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vetor com os campos separados por 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primeiro campo apenas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registro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Esquecer o Close após gravação pode causar: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nada, o VB6 fecha sozinho sempre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perda de dados e arquivo travado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conversão errada de tipos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erro de sintaxe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V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DADOS CLIENTE/SERVIDOR E ADMINISTRAÇÃO DO BANCO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57 A 72  ·  SEMANAS 15 A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11 — Manipulação de dados Cliente/Servidor (ADO)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12 — Backup e recuperação de banco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11  ·  AULAS 57 A 64  ·  SEMANAS 15 A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Manipulação de dados Cliente/Servidor (ADO)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V — Dados Cliente/Servidor e Administração do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Explicar o fluxo Cliente/Servidor: aplicação → SQL → SGBD → resultados.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Percorrer resultados com Recordset (EOF, MoveNext, campos por nome).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Executar CRUD completo (CREATE/INSERT/SELECT/UPDATE/DELETE) pelo VB6.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Validar entradas e tratar problemas de conexão/SQL em tempo de execução.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Cliente/Servidor: o fluxo completo com 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Cliente monta SQL → servidor executa → Recordset ou linhas afetadas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Trio do Recordset: EOF · MoveNext · rs!campo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CRUD em módulo próprio (Inserir/Atualizar/Excluir/Existe)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Validar no cliente + On Error + Escapar aspas = defesa em camadas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15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Percurso padrão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Do While Not rs.EOF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List1.AddItem rs!nome &amp; </a:t>
            </a:r>
            <a:r>
              <a:rPr sz="1350" b="0">
                <a:solidFill>
                  <a:srgbClr val="9ECE6A"/>
                </a:solidFill>
                <a:latin typeface="Consolas"/>
              </a:rPr>
              <a:t>" - "</a:t>
            </a:r>
            <a:r>
              <a:rPr sz="1350" b="0">
                <a:solidFill>
                  <a:srgbClr val="DCE9F7"/>
                </a:solidFill>
                <a:latin typeface="Consolas"/>
              </a:rPr>
              <a:t> &amp; rs!nota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rs.MoveNext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Loop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rs.Close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Cliente/Servidor — prática e validação em grupo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frmAlunos: CRUD completo com refresh da ListBox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Validação no cliente antes de todo comando SQL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Confirmação vbYesNo em Alterar/Excluir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Plano de testes de 5 casos, executado em dupla trocada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CRUD de produtos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Replique a oficina para a tabela produtos(id, nome, preco, estoque): formulário completo com as 4 operações e validações (preco &gt; 0, estoque &gt;= 0).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Consulta com filtro dinâmico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Text de busca + botão: SELECT ... WHERE nome LIKE '%texto%' ORDER BY nome; preencha a ListBox; mostre contagem de resultados com rs.RecordCount ou contador próprio.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Relatório de falhas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Do teste em dupla trocada: liste os 3 bugs mais sérios encontrados no programa avaliado, com: sintoma, causa provável e correção proposta.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Sem rs.MoveNext dentro do Do While Not rs.EOF, o programa: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pula a primeira linha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entra em laço infinito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fecha o Recordset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dá erro de sintaxe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rs!nota lê: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nome da coluna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valor do campo nota da linha atual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primeira linha inteira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total de linhas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escapar uma aspa simples dentro de um texto que vai virar SQL: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duplica a aspa ('')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remove a aspa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troca por aspas duplas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usa \ '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cn.Execute de um UPDATE devolve: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Recordset com as linhas alteradas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nada de tabela; afeta linhas no banco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arquivo temporário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MsgBox automático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Validar no cliente antes de enviar SQL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deixar o banco mais rápido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evitar comandos inválidos/perigosos e mensagens ruins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substituir o On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economizar memória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AVALIAÇÃO 2 — 30 pts (semana 16 · aula 48)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Prova obrigatória — pode ser em duplas ou com consulta (Plano de Ensino)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HTML (estrutura a formulários) · PHP (variáveis a arrays/funções) · GET/POST/validação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~60% prática (leitura/escrita de código) + ~40% conceitual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Modelo de prova na seção AVALIAÇÕES da apostila.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12  ·  AULAS 65 A 72  ·  SEMANAS 17 A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Backup e recuperação de banco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V — Dados Cliente/Servidor e Administração do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Explicar a finalidade de backup e os cuidados de organização das cópias.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Executar backup do MySQL com mysqldump e restaurar com mysql &lt;.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Validar a recuperação restaurando em banco de teste e conferindo dados.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Planejar rotina de cópias (frequência, nomeação, guarda) para um cenário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Backup: a cópia que salva o semestre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Backup = voltar no tempo; recuperação = provar que a máquina do tempo funciona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mysqldump -u root -p banco &gt; arquivo.sql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Nome com data + pasta fora do servidor + rotina semanal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Cópia não testada = esperança, não backup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17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Backup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82295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mysqldump -u root -paluno123 escola &gt; escola_2026-09-18.sql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Recuperação e validação pós-restauro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mysql -u root -p banco &lt; arquivo.sql = restaurar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Restaurar em banco de TESTE antes de produção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Validar: SHOW TABLES + COUNT(*) + amostras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Gerações (4 últimas semanas) cobrem os cenários reais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18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Recuperação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82295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mysql -u root -paluno123 escola_teste &lt; escola_2026-09-18.sql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Rotina completa de backup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Gere backup do banco escola com nome datado; apague uma tabela de testes (DROP); restaure do .sql; valide com SHOW TABLES e COUNT(*).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Recuperação cirúrgica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Simule UPDATE errado em 5 notas; restaure o backup em escola_teste; escreva o SQL que copia de volta apenas as notas corretas do banco de teste para o produção (UPDATE com JOIN ou subselect, demonstrado no quad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Plano de backup da escola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Proponha por escrito a rotina de backup do laboratório: frequência, nomeação, local de guarda, gerações mantidas, responsável e procedimento de recuperação testada.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mysqldump banco &gt; arquivo.sql produz: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banco novo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arquivo com estrutura + dados em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backup binário criptografado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relatório em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restaurar o conteúdo do arquivo no banco: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mysqldump &lt; arquivo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mysql banco &lt; arquivo.sql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RESTORE FILE arquivo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cn.Execute(arquivo)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Validar uma recuperação inclui: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só olhar o tamanho do arquivo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SHOW TABLES + contagens + amostras conferidas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reiniciar o servidor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abrir o .sql no Bloco de Notas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Manter várias gerações de backup (avô-pai-filho) protege contra: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falta de espaço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cópias corrompidas ou desastres descobertos tardiamente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senhas fracas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vírus de tela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Restaurar primeiro em banco de TESTE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treinar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arriscar o banco de produção durante a validação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acelerar o mysqldump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economizar disco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VI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SAÍDAS, DISTRIBUIÇÃO, GRÁFICOS E PROJETO INTEGRADOR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73 A 96  ·  SEMANAS 19 A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13 — Relatórios, impressão e documentos fiscais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14 — Disco de instalação e recursos gráficos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15 — Projeto integrador e consolidação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13  ·  AULAS 73 A 80  ·  SEMANAS 19 A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Relatórios, impressão e documentos fiscais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VI — Saídas, Distribuição, Gráficos e Projeto Integrador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Gerar relatórios com seleção e organização de dados (tela e papel).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Usar o objeto Printer (Print, Tab, String, EndDoc) para saídas impressas.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Montar documentos fiscais simples (cupom/nota) com layout controlado.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Format e alinhamentos para saída profissional.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13 · AULA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Relatórios: dados que viram informação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Relatório = cabeçalho + colunas + corpo (SQL) + rodapé + separadores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Tab(n) alinha colunas; String(n, "-") separa blocos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Printer.Print monta a página; EndDoc despacha à impressora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Format nos números e datas = aparência profissional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13 · AULA 19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Impressão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Printer.Print </a:t>
            </a:r>
            <a:r>
              <a:rPr sz="1350" b="0">
                <a:solidFill>
                  <a:srgbClr val="6CB6FF"/>
                </a:solidFill>
                <a:latin typeface="Consolas"/>
              </a:rPr>
              <a:t>Tab</a:t>
            </a:r>
            <a:r>
              <a:rPr sz="1350" b="0">
                <a:solidFill>
                  <a:srgbClr val="DCE9F7"/>
                </a:solidFill>
                <a:latin typeface="Consolas"/>
              </a:rPr>
              <a:t>(20); </a:t>
            </a:r>
            <a:r>
              <a:rPr sz="1350" b="0">
                <a:solidFill>
                  <a:srgbClr val="9ECE6A"/>
                </a:solidFill>
                <a:latin typeface="Consolas"/>
              </a:rPr>
              <a:t>"RELATÓRIO"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Printer.Print </a:t>
            </a:r>
            <a:r>
              <a:rPr sz="1350" b="0">
                <a:solidFill>
                  <a:srgbClr val="6CB6FF"/>
                </a:solidFill>
                <a:latin typeface="Consolas"/>
              </a:rPr>
              <a:t>String</a:t>
            </a:r>
            <a:r>
              <a:rPr sz="1350" b="0">
                <a:solidFill>
                  <a:srgbClr val="DCE9F7"/>
                </a:solidFill>
                <a:latin typeface="Consolas"/>
              </a:rPr>
              <a:t>(60, </a:t>
            </a:r>
            <a:r>
              <a:rPr sz="1350" b="0">
                <a:solidFill>
                  <a:srgbClr val="9ECE6A"/>
                </a:solidFill>
                <a:latin typeface="Consolas"/>
              </a:rPr>
              <a:t>"-"</a:t>
            </a:r>
            <a:r>
              <a:rPr sz="1350" b="0">
                <a:solidFill>
                  <a:srgbClr val="DCE9F7"/>
                </a:solidFill>
                <a:latin typeface="Consolas"/>
              </a:rPr>
              <a:t>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Printer.EndDoc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13 · AULA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Documentos fiscais: cupom e nota simplificados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Cupom didático: emitente + numeração + itens + totais + agradecimento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Itens vêm do banco via Recordset (não texto fixo)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Fonte monoespaçada (Courier New) para colunas fecharem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Contexto real: NF-e/NFC-e com autorização SEFAZ (visão geral)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13 · AULA 20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Fonte fixa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09728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Printer.FontName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"Courier New"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Printer.Print </a:t>
            </a:r>
            <a:r>
              <a:rPr sz="1350" b="0">
                <a:solidFill>
                  <a:srgbClr val="6CB6FF"/>
                </a:solidFill>
                <a:latin typeface="Consolas"/>
              </a:rPr>
              <a:t>String</a:t>
            </a:r>
            <a:r>
              <a:rPr sz="1350" b="0">
                <a:solidFill>
                  <a:srgbClr val="DCE9F7"/>
                </a:solidFill>
                <a:latin typeface="Consolas"/>
              </a:rPr>
              <a:t>(48, </a:t>
            </a:r>
            <a:r>
              <a:rPr sz="1350" b="0">
                <a:solidFill>
                  <a:srgbClr val="9ECE6A"/>
                </a:solidFill>
                <a:latin typeface="Consolas"/>
              </a:rPr>
              <a:t>"-"</a:t>
            </a:r>
            <a:r>
              <a:rPr sz="1350" b="0">
                <a:solidFill>
                  <a:srgbClr val="DCE9F7"/>
                </a:solidFill>
                <a:latin typeface="Consolas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Relatório de estoque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Relatório (tela + Printer) dos produtos com estoque &lt; mínimo: cabeçalho com data, colunas codigo/descricao/estoque, rodapé com contagem e valor total imobilizado.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Cupom dinâmico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Cupom que lê a venda pelo id: cabeçalho do emitente (tabela loja), itens da tabela itens_venda via Recordset, totais calculados (qtd × unit) e EndDoc.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Leitura de documento fiscal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Traga (ou receba) um cupom/NF-e real e identifique por escrito: emitente, numeração, data, itens com unit/qtd/total, totais e pagamento; marque o que nosso modelo didático já reproduz e o que ficaria por conta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13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alinhar colunas em relatórios de texto usamos: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Space( ) apenas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Tab(n) e String(n, "-")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MsgBox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Printer.Page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13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Sem Printer.EndDoc, o trabalho de impressão: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sai imediatamente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fica retido/no buffer sem despachar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é cancelado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imprime em dobro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13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colunas fecharem em impressora real, a fonte deve ser: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proporcional (Arial)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monoespaçada (Courier New)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itálica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decorativa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13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Os itens de um cupom ‘de verdade’ no nosso sistema vêm: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digitados fixos no código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do banco, via Recordset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 um arquivo .bmp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do Clipboard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13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relatório gerencial típico termina com: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somente os detalhes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totais/contagens/médias de fechamento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código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string de conexão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14  ·  AULAS 81 A 88  ·  SEMANAS 21 A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Disco de instalação e recursos gráficos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VI — Saídas, Distribuição, Gráficos e Projeto Integrador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Preparar e organizar os arquivos necessários à distribuição do programa.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Gerar o pacote/disco de instalação com o Package &amp; Deployment Wizard.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recursos gráficos no VB6 (PictureBox: Line, Circle, PSet) com herança do modo DOS.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Testar a instalação em máquina/conta limpa.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14 · AULA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Disco de instalação: do projeto ao pacote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Instalador = exe + runtimes + dados + config + atalhos + desinstalador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Package &amp; Deployment Wizard: Package → dependentes → atalhos → setup.exe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Conexão parametrizável via config.ini (nunca senha compilada)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Teste em máquina/conta limpa é obrigatório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14 · AULA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Recursos gráficos: a herança do modo 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Herança DOS: desenhar por comandos (LINE/CIRCLE) → PictureBox no VB6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Line (x1,y1)-(x2,y2), cor, B/BF · Circle (x,y), raio · PSet ponto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Gráfico de barras vindo do banco = dashboard do projeto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14 · AULA 22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Barras do banco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82295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Picture1.</a:t>
            </a:r>
            <a:r>
              <a:rPr sz="1350" b="0">
                <a:solidFill>
                  <a:srgbClr val="6CB6FF"/>
                </a:solidFill>
                <a:latin typeface="Consolas"/>
              </a:rPr>
              <a:t>Line</a:t>
            </a:r>
            <a:r>
              <a:rPr sz="1350" b="0">
                <a:solidFill>
                  <a:srgbClr val="DCE9F7"/>
                </a:solidFill>
                <a:latin typeface="Consolas"/>
              </a:rPr>
              <a:t> (x, 160)-(x+18, 160 - rs!nota*14), vbBlue, BF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Pacote de instalação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Compile um projeto seu (ex.: CRUD de produtos) e gere o pacote com o Wizard; teste em conta limpa: instalar, rodar, conectar, desinstalar. Registre o passo a passo com prints.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Bandeira e onda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No PictureBox: desenhe a bandeira da escola (retângulos/círculos com B/BF) e uma onda com PSet em laço; adicione botão Limpar (Picture1.Cls).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Dashboard de notas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Gráfico de barras das notas por aluno (consulta SQL) com eixo, rótulos (Left$ do nome) e legenda; inclua o dashboard como tela do seu projeto.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14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Package &amp; Deployment Wizard gera: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banco de dados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pacote/disco de instalação (setup + dependentes)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relatório fiscal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backup do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14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Senha/servidor de conexão devem ficar: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compilados no .exe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em arquivo de configuração lido em tempo de execução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título do formulário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Registry sem documentação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14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PictureBox, o método que desenha um retângulo preenchido usa: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Box 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BF no final do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Fill automaticamente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Rect()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14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PSet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desenhar um ponto na coordenada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imprimir texto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limpar a tela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mover o formulário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14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Testar a instalação em máquina/conta limpa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ganhar tempo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garantir que o pacote leva todas as dependências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economizar licença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validar o banco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15  ·  AULAS 89 A 96  ·  SEMANAS 23 A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Projeto integrador e consolidação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VI — Saídas, Distribuição, Gráficos e Projeto Integrador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Integrar banco + SQL + estruturas + modularização + arquivos + relatórios + gráficos no projeto.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revisão geral da ementa como preparação da prova final.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Testar, revisar e apresentar o projeto com demonstração completa.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Consolidar o portfólio do semestre: código, pacote de instalação e documentação.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15 · AULA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Integração do projeto (semana 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Checklist de integração: banco, conexão, CRUD, estruturas, módulos, arquivos, relatório, pacote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Semana 23: CRUD → arquivos/relatório → módulos/gráficos → testes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Congelar escopo na aula 92 = apresentação tranquila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15 · AULA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Consolidação, prova final e apresentações (semana 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Revisão em 8 blocos = mapa da prova final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Prova escrita individual (30) + projeto/apresentação (10)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Ensaio cronometrado com demonstração de erro tratado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Aula 96: apresentações + pacote de instalação + encerramento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Checklist de integração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Preencham o checklist de integração do projeto (8 itens da aula 89) com status Feito/Parcial/Pendente e plano para os pendentes até a aula 92.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Plano de testes do projeto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Montem a tabela de testes com mínimo 8 casos: cadastro válido/inválido, consulta com e sem resultado, exclusão confirmada/cancelada, importação com linha corrompida, relatório com zero registros, conexão com 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Ensaio cronometrado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Ensaio de 5–8 min com cronômetro: abertura (tema/tabela), demonstração completa (válido, inválido, consulta, relatório), fechamento (o que ficou para a versão 2). Gravem no celular como plano B.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15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checklist de integração do projeto exige, entre outros: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somente telas bonitas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banco + CRUD + módulos + arquivos + relatório + pacote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apenas o relatório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somente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15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Congelar escopo na semana 23 significa: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testar mais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acrescentar funcionalidades novas; pendências viram ‘versão 2’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parar de programar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adiar a apresentação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15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Na demonstração, mostrar uma entrada inválida sendo barrada prova: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que o programa tem bugs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que a validação funciona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que o banco está lento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que faltou teste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15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prova final (30 pts)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em duplas com consulta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escrita, individual e cumulativa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só do projeto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15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pacote de instalação entregue deve incluir: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somente o .exe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exe + dependentes + config.ini parametrizável + atalhos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banco com senhas compiladas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os fontes sem compilar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AVALIAÇÃO 3 — 40 pts (semana 24)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Prova escrita final individual e cumulativa — 30 pts (aulas 70–71)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Projeto integrador: entregas parciais + apresentação — 10 pts (aula 72)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Rubrica do projeto na seção AVALIAÇÕES da apostila.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AULAS 49 A 72 · SEMANAS 17 A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Projeto Final Integrador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O QUE 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Programa completo em Visual Basic 6.0 que reúne, conforme a viabilidade do ambiente: conexão com banco de dados (MySQL via ODBC/ADO), instruções SQL de manipulação e consulta, estruturas de dados (vetor, matriz e/ou registro), modularização (Sub e Function em Modules), variáveis String, arquivos/textos para importação/exportação, geração de relatório e/ou saída para impressão, recursos gráficos quando pertinente e preparação do disco/pacote de instalação.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TEMAS SUGERIDOS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Controle de estoque com relatórios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Cadastro de alunos com histórico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Contas a pagar/receber com documentos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Biblioteca com empréstimos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PDV simples com cupom (documento fiscal)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Controle de tarefas com arquivos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8463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ENTREGAS (6)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1 — Requisitos e desenho: tabelas do banco, telas e módulos previstos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2 — Versão parcial: conexão + SQL (cadastro e consulta) + estruturas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3 — Versão completa: arquivos, relatório/impressão e modularização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4 — Pacote de instalação + apresentação e defesa do projeto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CRITÉRIOS (10 pts)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Funcionalidade (3,0)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Estruturas e modularização (2,0)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SQL e banco de dados (2,0)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Relatório e saída (1,0)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Instalação e apresentação (2,0)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LINGUAGEM DE PROGRAMAÇÃO II · CURSO TÉCNICO EM INFORMÁTICA · TURMA 2/2026  ·  PARTE VI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Bons estudos e bom código!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291840"/>
            <a:ext cx="2377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BD4EE"/>
                </a:solidFill>
                <a:latin typeface="Segoe UI"/>
              </a:rPr>
              <a:t>Linguagem de Programação II · Curso Técnico em Informática · Turma 2/2026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Apostila (aluno e professor), testes rápidos e modelos de prova: disponíveis no material da disciplina.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
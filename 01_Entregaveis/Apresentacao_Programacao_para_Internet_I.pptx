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analogia do restaurante: cliente faz o pedido (requisição), cozinha prepara (servidor), garçom entrega (resposta). Pergunte à turma: a Internet é a mesma coisa que a Web? Deixe que respondam antes de mostrar o conceito-chave.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para abrirem um site qualquer e identificarem cada parte da URL em voz alta. Verifique se todos encontram o cadeado do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para abrirem um site qualquer e identificarem cada parte da URL em voz alta. Verifique se todos encontram o cadeado do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para abrirem um site qualquer e identificarem cada parte da URL em voz alta. Verifique se todos encontram o cadeado do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Desenhe no quadro o fluxo: navegador → DNS → IP → servidor → resposta. Depois peça que um aluno explique o caminho com as próprias palavras.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 de caso: abra uma loja virtual conhecida e percorra o fluxo com a turma, identificando cada etapa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Estudo de caso: abra uma loja virtual conhecida e percorra o fluxo com a turma, identificando cada etapa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A Internet é a rede mundial (infraestrutura); a Web é um serviço que trafega nela, assim como e-mail, streaming e jogos.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navegador é o software cliente: ele faz a requisição e exibe a resposta enviada pelo servidor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O DNS é a ‘agenda’ da Internet: converte nomes (meusite.com.br) em números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HTTPS = HTTP + criptografia. O cadeado na barra indica conexão segura para digitar senhas e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D — Protocolo = https; domínio = loja.com.br; caminho/recurso = /produtos/fone.php; parâmetro = id=7.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100% prática: todos devem sair com o VS Code instalado, a pasta meu-site/ criada e o primeiro arquivo de teste aberto no navegador. Palavra-chave: index = página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100% prática: todos devem sair com o VS Code instalado, a pasta meu-site/ criada e o primeiro arquivo de teste aberto no navegador. Palavra-chave: index = página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Código é texto puro: editores de código oferecem cores de sintaxe e autocompletar sem inserir formatação invisível (como faz o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Ao receber um acesso sem página especificada, o servidor busca index.html/index.php na pasta do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mkdir = make directory (criar diretório/pasta). Listar arquivos é dir (Windows) ou ls (Linux); navegar é 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Boa prática: nomes curtos, minúsculos, sem acento, separados por hífen ou sublinhado (ex.: pagina-inicial.html).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As DevTools mostram o HTML recebido, permitem inspecionar elementos, ver a rede, o console e muito mais — são a principal ferramenta de teste do desenvolvedor.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devem digitar o código (não copiar/colar!) e abrir no navegador. Desafio 'Sobre mim' nos 15 minutos finais. Dica do Emmet: ! +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devem digitar o código (não copiar/colar!) e abrir no navegador. Desafio 'Sobre mim' nos 15 minutos finais. Dica do Emmet: ! +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'leitura de elementos no quadro': escreva 5 linhas de código e peça que identifiquem tags, atributos e conteúdo oralmente.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'leitura de elementos no quadro': escreva 5 linhas de código e peça que identifiquem tags, atributos e conteúdo oralmente.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página 'Minha Cidade' ao vivo no projetor, com a turma ditando o que cada parte deve ser (título, seção, parágrafo).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página 'Minha Cidade' ao vivo no projetor, com a turma ditando o que cada parte deve ser (título, seção, parágrafo).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de semântica × aparência: mostre uma frase com b/i e peça para converterem em strong/em justificando o porquê.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de semântica × aparência: mostre uma frase com b/i e peça para converterem em strong/em justificando o porquê.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DOCTYPE deve ser a primeira linha do arquivo e declara a versão do HTML (HTML5).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head guarda metadados e configurações; o body guarda o conteúdo visível. title e meta são filhos do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br, hr, img (e também meta, input) não envolvem conteúdo — não têm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h1 é o título principal (único por página); h2..h6 organizam seções em ordem hierárquica — não são apenas tamanhos de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Ambos exibem negrito, mas strong tem significado (importância) — usado por leitores de tela e buscadores.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Iniciar o projeto 'Meu Primeiro Site' nesta aula: criar as 3 páginas e o menu. Testar cada link clicando.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Iniciar o projeto 'Meu Primeiro Site' nesta aula: criar as 3 páginas e o menu. Testar cada link clicando.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imagens de exemplo na pasta imagens/. Testar ao vivo um caminho errado para ver a imagem quebrada e diagnosticar com F12.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imagens de exemplo na pasta imagens/. Testar ao vivo um caminho errado para ver a imagem quebrada e diagnosticar com F12.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converter o menu do 'Meu Primeiro Site' em lista (ul) — semântica correta para menus.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converter o menu do 'Meu Primeiro Site' em lista (ul) — semântica correta para menus.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Link interno usa a tag a com href e caminho relativo — sem https://.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_blank = nova aba. Sem target, o link abre na mesma aba (comportamento padrão).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É preciso 'subir' um nível (..) a partir de pages/ para alcançar a pasta imagens/ da raiz.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alt = texto alternativo: lido por leitores de tela, exibido se a imagem falhar e usado por buscadores.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ol numera os itens automaticamente (1, 2, 3...) — ideal para sequências e rankings.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tabela ao vivo, linha por linha, perguntando 'o que acontece se eu tirar o tr?'. Depois, cada aluno cria a sua.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tabela ao vivo, linha por linha, perguntando 'o que acontece se eu tirar o tr?'. Depois, cada aluno cria a sua.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da aula: tabela de alunos (nome, curso, nota) com thead/tbody/tfoot e colspan na linha da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da aula: tabela de alunos (nome, curso, nota) com thead/tbody/tfoot e colspan na linha da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clique no label focando o campo; demonstrar required bloqueando o envio; comparar radio (mesmo name) com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clique no label focando o campo; demonstrar required bloqueando o envio; comparar radio (mesmo name) com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prática de laboratório: montar o cadastro do zero. Circular pela sala conferindo name em todos os campos. Este formulário será reaproveitado no módulo 11 (com PHP).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Finalizar o cadastro de aluno com select de turno e textarea de observações.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Finalizar o cadastro de aluno com select de turno e textarea de observações.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 na semana 6. Reservar a aula para trabalho supervisionado: grupos tirando dúvidas, professor circulando com o checklist de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th marca cabeçalhos de coluna/linha (negrito, centralizado por padrão); td marca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colspan mescla colunas (a célula ocupa 3); rowspan mesclaria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for do label aponta para o id do campo. O name serve para o envio ao servidor — são funções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Radios com o MESMO name formam um grupo de escolha única. Checkboxes permitem múltiplas escolhas.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action = destino do processamento (ex.: processar.php); method = forma de envio dos dados (GET ou POST — módulo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visual HTML × PHP: abrir um .html com dois cliques (funciona) e um .php com dois cliques (não funciona) — depois via localhost (funciona). Esse contraste fixa o conceito de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devem executar o ola.php via localhost. Depois, Ctrl+U para ver que o PHP 'sumiu' — só sobrou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devem executar o ola.php via localhost. Depois, Ctrl+U para ver que o PHP 'sumiu' — só sobrou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Atualizar a página várias vezes para ver os minutos mudando. Pergunta-chave: 'quem calculou a data — o navegador ou o servidor?'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Atualizar a página várias vezes para ver os minutos mudando. Pergunta-chave: 'quem calculou a data — o navegador ou o servidor?'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PHP é server-side: o servidor executa e envia ao navegador apenas o HTML resultante.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echo (e seu primo print) envia conteúdo para a resposta da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Extensão .php e acesso via servidor (localhost). Com dois cliques (file://), o PHP não é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ponto concatena strings: "3"."4" = "34". Soma seria com o operador + entre números: 3+4 =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Conteúdo dinâmico: a cada requisição o servidor executa o PHP (ex.: date()) e gera um resultado atualizado.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Experimentos no laboratório: criar variáveis com seus próprios dados e exibir. Provocar erro de nome inválido ($2x) para ver a mensagem do 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Experimentos no laboratório: criar variáveis com seus próprios dados e exibir. Provocar erro de nome inválido ($2x) para ver a mensagem do 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cada aluno cria 4 variáveis (um de cada tipo) e confere com var_dump. Pergunta provocadora: qual é o tipo de '17'?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cada aluno cria 4 variáveis (um de cada tipo) e confere com var_dump. Pergunta provocadora: qual é o tipo de '17'?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calculadora passo a passo. Reforçar o lembrete da A1 e entregar o roteiro de revisão (módulos 1 a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calculadora passo a passo. Reforçar o lembrete da A1 e entregar o roteiro de revisão (módulos 1 a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Montar a tabela-verdade no quadro COM a turma (prever antes de executar) e depois confirmar no projetor com var_dump. Jogo 'verdadeiro ou falso' com 8 comparações.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Montar a tabela-verdade no quadro COM a turma (prever antes de executar) e depois confirmar no projetor com var_dump. Jogo 'verdadeiro ou falso' com 8 comparações.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tabela-verdade no quadro e fazer 'simulações humanas': dois alunos são condições, a turma decide o resultado do &amp;&amp; e do ||.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tabela-verdade no quadro e fazer 'simulações humanas': dois alunos são condições, a turma decide o resultado do &amp;&amp; e do ||.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Variáveis em PHP começam com $ e não exigem declaração de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var_dump é a 'lupa' do programador: mostra tipo e valor, essencial para depurar.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% é o resto da divisão inteira: 10 ÷ 3 = 3 com resto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=== exige valor E tipo idênticos. Com ==, o resultado seria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A — true &amp;&amp; false = false; false || true = true. Parênteses primeiro, depois o ||.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Testar com idade 17 e depois 20 — prever o resultado antes de executar (hábito de programador).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Testar com idade 17 e depois 20 — prever o resultado antes de executar (hábito de programador).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o programa ao vivo e testar com notas 9, 6.5 e 3. Provocar: 'e se eu inverter a ordem dos elseif?' — deixar a turma prever e depois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o programa ao vivo e testar com notas 9, 6.5 e 3. Provocar: 'e se eu inverter a ordem dos elseif?' — deixar a turma prever e depois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 cascata removendo um break ao vivo. Exercício: menu de lanchonete (1-sanduíche, 2-suco, 3-combo).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 cascata removendo um break ao vivo. Exercício: menu de lanchonete (1-sanduíche, 2-suco, 3-combo).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if executa o bloco somente se a condição for verdadeira (true).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PHP executa apenas o primeiro bloco verdadeiro da cadeia e ignora os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8 &gt;= 7 é a primeira condição verdadeira → APROVADO. (Se a ordem estivesse invertida, cairia em recuperação — por isso a ordem importa.)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Sem o break, ocorre a cascata: os blocos dos cases seguintes executam mesmo sem bater.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= atribui (e o resultado 7 é 'verdadeiro'), então o bloco sempre executa. Comparação correta: == ou ===.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Executar o for de 1 a 10 e 'seguir' o valor de $i no quadro volta a volta. Depois, desafio-relâmpago: pares de 1 a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Executar o for de 1 a 10 e 'seguir' o valor de $i no quadro volta a volta. Depois, desafio-relâmpago: pares de 1 a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(com cuidado) o laço infinito comentando o $contador++ e explicar como interromper no navegador. Fixa a importância do avanço.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(com cuidado) o laço infinito comentando o $contador++ e explicar como interromper no navegador. Fixa a importância do avanço.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Comparação lado a lado no projetor com o MESMO valor inicial. Prever antes de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Comparação lado a lado no projetor com o MESMO valor inicial. Prever antes de executar.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Desenhar o array como 'caixinhas numeradas' no quadro. Exercício-relâmpago: qual é o índice de 'Carla'?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Desenhar o array como 'caixinhas numeradas' no quadro. Exercício-relâmpago: qual é o índice de 'Carla'?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Exercício: soma e média das notas com foreach. Comparar no quadro com a versão usando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Exercício: soma e média das notas com foreach. Comparar no quadro com a versão usando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ficha de um aluno da turma ao vivo. Depois, cada um cria a sua e exibe com foreach chave =&gt;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a ficha de um aluno da turma ao vivo. Depois, cada um cria a sua e exibe com foreach chave =&gt;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$i assume 0, 1, 2, 3, 4 → 5 voltas. Quando $i chega a 5, a condição $i &lt; 5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Sem o avanço ($contador++ ou similar), a condição nunca vira false e o laço não termina.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do...while = faz e depois confere: mínimo de 1 execução; while = confere e depois faz: pode executar 0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Índices começam em 0: [0]=maçã, [1]=banana, [2]=uva.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foreach foi criado para arrays: foreach ($arr as $item). Com chave: as $k =&gt; $v.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 alteração manual da URL. Pergunta: 'por que não enviar senha por GET?' — ela ficaria visível e no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 alteração manual da URL. Pergunta: 'por que não enviar senha por GET?' — ela ficaria visível e no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Repetir o formulário da aula anterior com POST e comparar: a URL ficou limpa. Tabela GET × POST no quadro com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Repetir o formulário da aula anterior com POST e comparar: a URL ficou limpa. Tabela GET × POST no quadro com participação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required sendo contornado (F12 → remover atributo → enviar vazio). Impacto forte: validação no servidor é inegociável.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required sendo contornado (F12 → remover atributo → enviar vazio). Impacto forte: validação no servidor é inegociável.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do alert() executando sem htmlspecialchars e do mesmo texto inofensivo com a função. Momento 'uau' que fixa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do alert() executando sem htmlspecialchars e do mesmo texto inofensivo com a função. Momento 'uau' que fixa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o fluxo ao vivo, testando: envio correto, envio vazio, e mensagem com  (sanitizada).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Construir o fluxo ao vivo, testando: envio correto, envio vazio, e mensagem com  (sanitizada).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prática integral: cada dupla entrega cadastro.html + processar.php funcionando com os 3 testes (ok, vazio, idade inválida). Correção pelo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GET coloca os dados na URL (visíveis); POST os envia no corpo da requisição.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O método do form define a superglobal: method=post → $_POST; method=get → $_GET. A chave é o name do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isset = existe/foi enviado; empty = está vazio ("", 0, null, false). Juntas, formam a validação básica.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Sanitização de saída: neutraliza tags/scripts injetados (ataque XSS).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Dados sensíveis (senha!) nunca por GET: ficariam visíveis na URL, no histórico e em logs. POST envia no corpo da requisição.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de revisão (12) + retomada na semana 15. Use o checklist no quadro: a turma autoavalia cada item. O projeto integra tudo — base do projeto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de revisão (12) + retomada na semana 15. Use o checklist no quadro: a turma autoavalia cada item. O projeto integra tudo — base do projeto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reorganizar o projeto antigo (arquivos soltos) na nova estrutura e corrigir os caminhos dos links/imagens.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Atividade: reorganizar o projeto antigo (arquivos soltos) na nova estrutura e corrigir os caminhos dos links/imagens.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poder do include: mudar o título do menu UMA vez e atualizar todas as páginas. 'E se eu tivesse copiado e colado?'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poder do include: mudar o título do menu UMA vez e atualizar todas as páginas. 'E se eu tivesse copiado e colado?'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Analogia: máquina de suco — entra fruta (parâmetro), sai suco (retorno). A máquina (função) não precisa ser refeita a cada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Analogia: máquina de suco — entra fruta (parâmetro), sai suco (retorno). A máquina (função) não precisa ser refeita a cada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implementa e testa as 4 funções. Desafio: função formatarPreco($v) que devolve 'R$ 1.234,56' (number_format).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implementa e testa as 4 funções. Desafio: função formatarPreco($v) que devolve 'R$ 1.234,56' (number_format).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Desenhar a estrutura no quadro como tabela. Este array é o 'banco de dados' do projeto da aula 48 e do projeto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Desenhar a estrutura no quadro como tabela. Este array é o 'banco de dados' do projeto da aula 48 e do projeto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Revisão estratégica antes da A2: percorrer o checklist do módulo e resolver o modelo de prova da apostila como estudo dirigido.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Revisão estratégica antes da A2: percorrer o checklist do módulo e resolver o modelo de prova da apostila como estudo dirigido.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Reutilização e manutenção: mudar o cabeçalho em um único arquivo atualiza o site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require = essencial (falhou, para tudo); include = opcional (falhou, avisa e segue).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D — Sem return, a função não devolve nada (null). O correto: return $x * 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Dois colchetes: posição na lista ([0]) + campo da ficha (["nota"]).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Geração dinâmica: o foreach repete o bloco HTML para cada item do array — o código não cresce com a quantidade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de formação de grupos e escolha do tema. Encerrar com o tema de cada grupo registrado (Entrega 1 começa aqui).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preenche o modelo requisitos.txt com seu tema. Professor valida um por um (visto = Entrega 1 encaminhada).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mão na massa: criar a estrutura e os includes. Meta: sair com o menu navegando entre páginas (mesmo que ainda vazias).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de construção supervisionada. Circule com o checklist; valide o formulário de cada grupo antes de partirem para o processar.php.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aplica o checklist de validação no sistema do OUTRO grupo (teste cruzado) — achar bugs dos colegas é divertido e formativo.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monta a tabela de testes do SEU sistema (mínimo 6 casos). Será usada na aula 69 e vale para a Entrega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'caça-erros': distribuir códigos com 3 erros plantados (um de cada tipo). Grupos competem para achar e corrigir usando a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'caça-erros': distribuir códigos com 3 erros plantados (um de cada tipo). Grupos competem para achar e corrigir usando a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de revisão estratégica: quiz relâmpago no projetor (perguntas dos testes rápidos anteriores) + espaço para dúvidas. Distribuir o mapa da revisão impresso.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Professor atua como consultor: circula, desbloqueia, cobra o checklist. Cada aula começa com a 'daily' de 5 min de cada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Sortear a ordem das apresentações na aula 71. Combinar o tempo com sinal (placa ou timer no projetor). Plateia registra 1 pergunta por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Do alicerce ao acabamento: primeiro o esqueleto e o menu (navegável desde o início), depois as funcionalidades na ordem do fluxo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Requisito testável permite verificar sim/não na tabela de testes. Generalidades não orientam o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B — Erros se escondem nas bordas: valores exatamente no limite (1900/2026) ou logo fora (1899/2027) revelam condições mal escritas (&gt;= vs &gt;).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Parse error = sintaxe. A mensagem dá arquivo e linha: estratégia ler → identificar → entender → corrigir → testar.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RESPOSTA: C — A demonstração prova que o sistema funciona E que trata erros — os dois lados da validação. Plano B (vídeo) existe só para emergências.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-128016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-457200"/>
            <a:ext cx="2377440" cy="2377440"/>
          </a:xfrm>
          <a:prstGeom prst="roundRect">
            <a:avLst>
              <a:gd name="adj" fmla="val 50000"/>
            </a:avLst>
          </a:prstGeom>
          <a:solidFill>
            <a:srgbClr val="1B4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1097280" y="48463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CURSO TÉCNICO EM INFORMÁTICA · EIXO: INFORMAÇÃO E COMUNICAÇÃO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PROGRAMAÇÃO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PARA INTERNET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310128"/>
            <a:ext cx="283464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BD4EE"/>
                </a:solidFill>
                <a:latin typeface="Segoe UI"/>
              </a:rPr>
              <a:t>Apresentação de aulas — teoria, exercícios práticos, testes rápidos e avaliações (A1 · A2 · A3)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72 aulas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24 semanas · 3/semana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60 h + 10 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presenciais + 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6177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754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12 módulos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BD4EE"/>
                </a:solidFill>
                <a:latin typeface="Segoe UI"/>
              </a:rPr>
              <a:t>6 partes · 3 avaliações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BD9"/>
                </a:solidFill>
                <a:latin typeface="Segoe UI"/>
              </a:rPr>
              <a:t>Material baseado no Plano de Ensino e no Cronograma oficiais · Turma 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BEM-VINDOS À DISCIPLINA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 curso em 1 minuto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1606F"/>
                </a:solidFill>
                <a:latin typeface="Segoe UI"/>
              </a:rPr>
              <a:t>Ementa oficial: desenvolvimento de projetos de website, HTML e linguagem PHP.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Programação para Internet I — Curso Técnico em Informática (Turma 2/2026)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72 aulas em 24 semanas · 3 aulas semanais de 50 minutos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60 h presenciais (teoria + prática) e 10 h de atividades orientadas no AVA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Do zero ao projeto final: Web → HTML → PHP → formulários → sistema completo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Aulas dialogadas, muita prática no laboratório e projeto integrador em grupos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COMO FUNCIONAM AS AULAS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Teoria + prática + testes rápidos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Teoria aula a aula: conceitos com exemplos, analogias e código ao vivo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Exercícios práticos em cada módulo (laboratório) e questões escritas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Teste rápido ao final de cada módulo: 5 questões para fixar na hora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Atividades no AVA (10 h): quizzes, leituras e continuidade dos projetos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Projetos: “Meu Primeiro Site” → site da empresa (A1) → cadastro PHP → projeto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AVALIAÇÕES — 100 PONTOS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A1 · A2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A1 (30 pts): site da empresa fictícia (10) + AVA/exercícios (5) + teste Web/HTML (15)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A2 (30 pts): prova na semana 16 — HTML, PHP e GET/POST (duplas/consulta conforme o Plano)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A3 (40 pts): prova final individual (30) + projeto e apresentação (10)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Apoio contínuo: revisões nas aulas 36 e 60, reforço no AVA e entregas do projeto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Modelos de prova e rubricas: seção AVALIAÇÕES da apostila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MAPA DO SEMESTRE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Seis partes, doze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1606F"/>
                </a:solidFill>
                <a:latin typeface="Segoe UI"/>
              </a:rPr>
              <a:t>Cada parte abre um bloco de slides; os módulos trazem teoria, exercícios e teste rápido.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 — Fundamentos da Internet e da Web (Aulas 1 a 4, Semanas 1 e 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II — Ferramentas para Desenvolvimento Web (HTML) (Aulas 5 a 18, Semanas 2 a 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III — Introdução ao PHP (Aulas 19 a 36, Semanas 7 a 12)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IV — Formulários + PHP (Aulas 37 a 42, Semanas 13 e 14)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V — Organização e Desenvolvimento do Projeto (Aulas 43 a 48, Semanas 15 e 16)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•  Parte VI — Desenvolvimento do Projeto Final (Aulas 49 a 72, Semanas 17 a 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FUNDAMENTOS DA INTERNET E DA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1 A 4  ·  SEMANAS 1 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 — Introdução à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  ·  AULAS 1 A 4  ·  SEMANAS 1 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Introdução à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 — Fundamentos da Internet e da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o que é a Internet e diferenciá-la da World Wide Web (Web).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Descrever o modelo cliente/servidor e o papel do navegador.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Entender o ciclo requisição → resposta e a diferença entre HTTP e HTTPS.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Identificar as partes de uma URL (protocolo, domínio, caminho e recurso).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os conceitos de endereço IP, DNS, domínio e hospedagem.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Reconhecer portais, e-business e e-commerce e o fluxo de uma loja virtual.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 que é a Internet?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Rede = dispositivos conectados trocando informações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Internet: rede mundial de redes (a infraestrutura)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Web (WWW): um dos serviços da Internet — sites e páginas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Cliente pede → Servidor fornece (modelo cliente/servidor)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Navegador = o programa cliente da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Como a Web funciona?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Ciclo da Web: requisição → processamento → resposta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HTTP = protocolo (regras) da comunicação na Web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HTTPS = HTTP com criptografia (cadeado no navegador)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URL = endereço do recurso na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Anatomia da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https:</a:t>
            </a:r>
            <a:r>
              <a:rPr sz="1350" b="0">
                <a:solidFill>
                  <a:srgbClr val="7F96AD"/>
                </a:solidFill>
                <a:latin typeface="Consolas"/>
              </a:rPr>
              <a:t>//www.lojaexemplo.com.br/produtos/notebook.php?id=10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protocolo    dominio            caminho     recurso   param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Como a Web funciona?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URL: protocolo + domínio + caminho + recurso + parâmetros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Ex.: https://www.lojaexemplo.com.br/produtos/notebook.php?id=10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Domínio, hospedagem e servidor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IP = número que identifica o dispositivo na rede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Domínio = nome amigável (ex.: meusite.com.br)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DNS = traduz domínio → IP (a “agenda” da Internet)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Hospedagem = espaço em servidor ligado 24 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Servidor Web = software que atende as requisições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Gratuita × compartilhada × VPS × dedicada × nuvem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Portais, e-business e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Portal: concentra conteúdo/serviços (institucional, educacional, notícias)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e-Business: negócio conduzido de forma digital (conceito amplo)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e-Commerce: compra e venda on-line — a loja virtual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Todo e-commerce é e-business; nem todo e-business é e-commerce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 · AULA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Portais, e-business e e-commerce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Fluxo da loja virtual: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F2937"/>
                </a:solidFill>
                <a:latin typeface="Segoe UI"/>
              </a:rPr>
              <a:t>•  início → catálogo → ficha do produto → carrinho → checkout → confirmação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Observação guiada de sites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Abra 3 sites diferentes no navegador (ex.: um portal de notícias, o site de uma loja e o portal da escola). Para cada um, registre no caderno: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Análise de 5 URLs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Identifique protocolo, domínio, caminho, recurso e parâmetros (quando houver) nas URLs abaixo: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Pesquisa em grupo: domínio × hospedagem × DNS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Em grupos de 3 a 4 alunos, pesquisem e montem um resumo (cartaz ou 1 página) respondendo: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Estudo de caso: o fluxo da loja virtual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Escolha uma loja virtual conhecida e percorra uma compra (sem pagar!) até o carrinho. Escreva as etapas observadas (início → catálogo → ficha → carrinho → checkout) e responda: em quais etapas são usados formul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afirmação descreve corretamente a relação entre Internet e Web?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São sinônimos perfeitos, apenas em idiomas diferentes.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Web é a infraestrutura física; a Internet são os 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Web é um dos serviços que funcionam sobre a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Internet só existe para acessar a Web.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modelo cliente/servidor da Web, o navegador do usuário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servidor, pois guarda as páginas.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cliente, pois solicita os recursos ao servidor.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DNS, pois traduz os endereços.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protocolo, pois define as regras.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principal função do DNS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criptografar os dados entre navegador e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hospedar os arquivos dos 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traduzir o nome do domínio para o endereço IP do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acelerar o processamento de páginas PHP.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site com HTTPS, em comparação com HTTP, oferece: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mais cores e imagens na página.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comunicação criptografada entre navegador e servidor.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hospedagem gratuita garantida.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domínio registrado automaticamente no registro.br.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URL https://loja.com.br/produtos/fone.php?id=7, o trecho produtos/fone.php representa: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protocolo da comunicação.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domínio registrado da loja.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os parâmetros enviados ao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caminho e o recurso (página) solicitado.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FERRAMENTAS PARA DESENVOLVIMENTO WEB (HTML)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5 A 18  ·  SEMANAS 2 A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2 — Ferramentas de desenvolvimento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3 — HTML – fundamentos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4 — HTML – conteúdo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5 — HTML – tabelas e formulários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2  ·  AULA 5  ·  SEMANA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Ferramentas de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Ferramentas para Desenvolvimento Web (HTML)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Conhecer as ferramentas básicas do desenvolvedor Web: editor de código, navegador e terminal.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Instalar e configurar o ambiente de desenvolvimento (sugestão: VS Code).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e organizar a estrutura de pastas de um projeto Web.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Entender a importância das extensões de arquivo e do texto puro.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Ambiente de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Editor de código: escrever HTML/PHP em texto puro (VS Code)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Navegador: testar o resultado + DevTools (F12)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Gerenciador de arquivos: organizar o projeto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Terminal: cd, dir/ls, mkdir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 projeto tem sua pasta: meu-site/ (index.html, imagens/, css/)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2 · AULA 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do projeto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meu-site/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index.</a:t>
            </a:r>
            <a:r>
              <a:rPr sz="1350" b="0">
                <a:solidFill>
                  <a:srgbClr val="6CB6FF"/>
                </a:solidFill>
                <a:latin typeface="Consolas"/>
              </a:rPr>
              <a:t>html</a:t>
            </a:r>
            <a:r>
              <a:rPr sz="1350" b="0">
                <a:solidFill>
                  <a:srgbClr val="DCE9F7"/>
                </a:solidFill>
                <a:latin typeface="Consolas"/>
              </a:rPr>
              <a:t>   (pagina inicial)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sobre.html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imagens/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└── css/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Montando o ambiente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Prepare seu ambiente de desenvolvimento completo: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Explorando o navegador como ferramenta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Abra qualquer site no navegador, pressione F12 (DevTools) e explore: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Desafio — mapa do meu projeto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Desenhe no caderno a estrutura de pastas que você usará no projeto “Meu Primeiro Site” (módulo 4): página inicial, página sobre, página de contato e pasta de imagens. Escreva o nome exato de cada arquivo.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ferramenta é a mais adequada para escrever os arquivos HTML e PHP do projeto?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Microsoft Word, por causa do corretor ortográfico.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editor de código, como o VS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Bloco de Notas do celular.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navegador Chrome.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página inicial de um site deve se chamar index.html (ou index.php) porque: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uma regra gramatical da linguagem HTML.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index significa ‘índice’ em latim e soa profissional.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servidor Web procura automaticamente esse arquivo ao acessar o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navegador não abre arquivos com outros nomes.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terminal, o comando mkdir imagens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abrir a pasta imagens no navegador.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criar uma pasta chamada imagens.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apagar a pasta imagens.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listar os arquivos da pasta atual.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Por que não se deve usar nomes de arquivo com acentos ou espaços (ex.: “Página Inicial.html”)?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Porque o VS Code não salva arquivos assim.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Porque ocupam mais espaço em disco.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Porque URLs e servidores tratam acentos/espaços de forma inconsistente, podendo quebrar os links.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Porque o HTML proíbe letras maiúsculas.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2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As DevTools do navegador (tecla F12) permitem, entre outras coisas: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editar o código HTML exibido da página e ver as requisições de rede.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criar novas pastas no projeto automaticamente.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registrar domínios gratuitamente.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traduzir o site para outro idioma.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3  ·  AULAS 6 A 9  ·  SEMANAS 2 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HTML –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Ferramentas para Desenvolvimento Web (HTML)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um documento HTML5 completo com DOCTYPE, head e body.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Identificar elementos, tags, atributos e elementos sem fechamento.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cabeçalhos (h1–h6), parágrafos (p), quebras (br) e separadores (hr).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formatação semântica de textos (strong, em, mark, small).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Diferenciar semântica de aparência (strong × b, em × 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Primeiro documento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HTML = linguagem de MARCAÇÃO (estrutura o conteúdo)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Marcação descreve; programação decide (PHP vem depois)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Esqueleto: DOCTYPE → html → head (configurações) → body (conteúdo)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meta charset=UTF-8 = acentos funcionando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title = aba do navegador; h1 = título na página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6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ola.html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35661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&lt;!DOCTYPE html&gt;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&lt;html lang=</a:t>
            </a:r>
            <a:r>
              <a:rPr sz="1350" b="0">
                <a:solidFill>
                  <a:srgbClr val="9ECE6A"/>
                </a:solidFill>
                <a:latin typeface="Consolas"/>
              </a:rPr>
              <a:t>"pt-br"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&lt;head&gt;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&lt;meta charset=</a:t>
            </a:r>
            <a:r>
              <a:rPr sz="1350" b="0">
                <a:solidFill>
                  <a:srgbClr val="9ECE6A"/>
                </a:solidFill>
                <a:latin typeface="Consolas"/>
              </a:rPr>
              <a:t>"UTF-8"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&lt;title&gt;Minha primeira página&lt;/title&gt;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&lt;/head&gt;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&lt;body&gt;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&lt;h1&gt;Olá, mundo!&lt;/h1&gt;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&lt;p&gt;Minha primeira página Web.&lt;/p&gt;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&lt;/body&gt;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&lt;/html&gt;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do HTML: elementos, tags e atributos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Elemento = tag de abertura + conteúdo + tag de fechamento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Atributos: nome="valor" na tag de abertura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Elementos vazios (sem fechamento): br, hr, img, meta,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Aninhamento: tags fecham na ordem inversa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Comentários: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Anatomia + atributos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&lt;p&gt;conteúdo </a:t>
            </a:r>
            <a:r>
              <a:rPr sz="1350" b="0">
                <a:solidFill>
                  <a:srgbClr val="D38AE0"/>
                </a:solidFill>
                <a:latin typeface="Consolas"/>
              </a:rPr>
              <a:t>do</a:t>
            </a:r>
            <a:r>
              <a:rPr sz="1350" b="0">
                <a:solidFill>
                  <a:srgbClr val="DCE9F7"/>
                </a:solidFill>
                <a:latin typeface="Consolas"/>
              </a:rPr>
              <a:t> elemento&lt;/p&gt;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&lt;html lang=</a:t>
            </a:r>
            <a:r>
              <a:rPr sz="1350" b="0">
                <a:solidFill>
                  <a:srgbClr val="9ECE6A"/>
                </a:solidFill>
                <a:latin typeface="Consolas"/>
              </a:rPr>
              <a:t>"pt-br"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&lt;img src=</a:t>
            </a:r>
            <a:r>
              <a:rPr sz="1350" b="0">
                <a:solidFill>
                  <a:srgbClr val="9ECE6A"/>
                </a:solidFill>
                <a:latin typeface="Consolas"/>
              </a:rPr>
              <a:t>"foto.jpg"</a:t>
            </a:r>
            <a:r>
              <a:rPr sz="1350" b="0">
                <a:solidFill>
                  <a:srgbClr val="DCE9F7"/>
                </a:solidFill>
                <a:latin typeface="Consolas"/>
              </a:rPr>
              <a:t> alt=</a:t>
            </a:r>
            <a:r>
              <a:rPr sz="1350" b="0">
                <a:solidFill>
                  <a:srgbClr val="9ECE6A"/>
                </a:solidFill>
                <a:latin typeface="Consolas"/>
              </a:rPr>
              <a:t>"Foto"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&lt;br&gt;  &lt;hr&gt;  &lt;!-- elementos vazios --&gt;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&lt;!-- comentário --&gt;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Cabeçalhos e parágrafos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h1–h6: níveis hierárquicos de título (h1 = principal)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Um único h1 por página; não pular níveis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 = parágrafo · br = quebra de linha · hr = separador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br e hr são elementos vazios (sem fechamento)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HTML ignora 'Enter' e espaços extras do código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de conteúdo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&lt;h1&gt;Minha Cidade&lt;/h1&gt;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&lt;h2&gt;História&lt;/h2&gt;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&lt;p&gt;Texto </a:t>
            </a:r>
            <a:r>
              <a:rPr sz="1350" b="0">
                <a:solidFill>
                  <a:srgbClr val="D38AE0"/>
                </a:solidFill>
                <a:latin typeface="Consolas"/>
              </a:rPr>
              <a:t>do</a:t>
            </a:r>
            <a:r>
              <a:rPr sz="1350" b="0">
                <a:solidFill>
                  <a:srgbClr val="DCE9F7"/>
                </a:solidFill>
                <a:latin typeface="Consolas"/>
              </a:rPr>
              <a:t> parágrafo.&lt;br&gt;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continuação na linha de baixo&lt;/p&gt;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&lt;hr&gt;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Formatação de textos: semântica × aparência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strong = importante (negrito com significado)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em = ênfase (itálico com significado)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mark = destacado · small = miúdo · sub/sup = H₂O, 10²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 e i = só aparência, sem significado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Semântica importa: acessibilidade (leitores de tela) e SEO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3 · AULA 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Formatação semântica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&lt;p&gt;Vagas &lt;strong&gt;limitadas&lt;/strong&gt;, inscrição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&lt;em&gt;gratuita&lt;/em&gt; até &lt;mark&gt;sexta&lt;/mark&gt;.&lt;/p&gt;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&lt;p&gt;&lt;small&gt;Sujeito a alterações.&lt;/small&gt;&lt;/p&gt;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Página “Sobre mim”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sobre.html na pasta meu-site/ com a estrutura HTML5 completa e: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Página “Minha cidade”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cidade.html apresentando sua cidade com, no mínimo: um h1, dois h2, quatro parágrafos, um br, um hr, um mark e um strong.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Semântica × aparência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Reescreva o trecho abaixo trocando as tags de aparência por tags semânticas e justifique cada troca: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Caça-erros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O código abaixo tem 5 erros. Encontre todos e reescreva o código corrigido: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declaração 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criar o título da página.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informar ao navegador que o documento usa HTML5.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definir a codificação UTF-8.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iniciar o corpo visível da página.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As informações de configuração da página (charset, title) ficam dentro do elemento: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grupo contém apenas elementos vazios (sem tag de fechamento)?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p, h1, strong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br, hr, img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a, em, 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title, meta,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Sobre cabeçalhos, é correto afirmar: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podemos usar quantos h1 quisermos por página.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h6 é o título de maior destaque.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ideal é um único h1 por página, representando o assunto principal.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cabeçalhos servem apenas para aumentar a fonte do texto.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3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diferença entre  e  é 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strong deixa itálico e b deixa negrito.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strong transmite importância (semântica); b apenas altera a aparência.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 é uma tag obsoleta que quebra a página.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existe diferença: são sinônimos perfeitos.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4  ·  AULAS 10 A 12  ·  SEMANA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HTML – conteúdo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Ferramentas para Desenvolvimento Web (HTML)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links internos e externos com a tag a (href, target).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Inserir imagens com caminhos relativos e texto alternativo (alt).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Construir listas não ordenadas, ordenadas e de definição, inclusive aninhadas.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Interligar as páginas de um pequeno site (navegação).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Links — conectando as páginas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 href = link (âncora + destino)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Interno: caminho relativo (sobre.html) — mesmo 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Externo: URL absoluta (https://...) — outro site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target='_blank' abre em nova aba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Projeto: Meu Primeiro Site (index + sobre + contato com menu)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&lt;a href=</a:t>
            </a:r>
            <a:r>
              <a:rPr sz="1350" b="0">
                <a:solidFill>
                  <a:srgbClr val="9ECE6A"/>
                </a:solidFill>
                <a:latin typeface="Consolas"/>
              </a:rPr>
              <a:t>"sobre.html"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&gt;Sobre&lt;/a&gt;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&lt;a href="https:</a:t>
            </a:r>
            <a:r>
              <a:rPr sz="1350" b="0">
                <a:solidFill>
                  <a:srgbClr val="7F96AD"/>
                </a:solidFill>
                <a:latin typeface="Consolas"/>
              </a:rPr>
              <a:t>//www.google.com"&gt;Google&lt;/a&gt;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&lt;a href=</a:t>
            </a:r>
            <a:r>
              <a:rPr sz="1350" b="0">
                <a:solidFill>
                  <a:srgbClr val="9ECE6A"/>
                </a:solidFill>
                <a:latin typeface="Consolas"/>
              </a:rPr>
              <a:t>"docs.html"</a:t>
            </a:r>
            <a:r>
              <a:rPr sz="1350" b="0">
                <a:solidFill>
                  <a:srgbClr val="DCE9F7"/>
                </a:solidFill>
                <a:latin typeface="Consolas"/>
              </a:rPr>
              <a:t> target=</a:t>
            </a:r>
            <a:r>
              <a:rPr sz="1350" b="0">
                <a:solidFill>
                  <a:srgbClr val="9ECE6A"/>
                </a:solidFill>
                <a:latin typeface="Consolas"/>
              </a:rPr>
              <a:t>"_blank"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&gt;Nova aba&lt;/a&gt;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Imagens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img src alt — elemento vazio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Caminho relativo à página atual: imagens/foto.jpg, ../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alt: acessibilidade + imagem não carrega + SEO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Formatos: JPG (fotos) · PNG (transparência) · GIF (animação) · SVG (vetor)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width/height controlam o tamanho na tela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11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Imagens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&lt;img src=</a:t>
            </a:r>
            <a:r>
              <a:rPr sz="1350" b="0">
                <a:solidFill>
                  <a:srgbClr val="9ECE6A"/>
                </a:solidFill>
                <a:latin typeface="Consolas"/>
              </a:rPr>
              <a:t>"imagens/eu.jpg"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 alt=</a:t>
            </a:r>
            <a:r>
              <a:rPr sz="1350" b="0">
                <a:solidFill>
                  <a:srgbClr val="9ECE6A"/>
                </a:solidFill>
                <a:latin typeface="Consolas"/>
              </a:rPr>
              <a:t>"Foto do aluno no laboratório"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&lt;img src=</a:t>
            </a:r>
            <a:r>
              <a:rPr sz="1350" b="0">
                <a:solidFill>
                  <a:srgbClr val="9ECE6A"/>
                </a:solidFill>
                <a:latin typeface="Consolas"/>
              </a:rPr>
              <a:t>"imagens/logo.png"</a:t>
            </a:r>
            <a:r>
              <a:rPr sz="1350" b="0">
                <a:solidFill>
                  <a:srgbClr val="DCE9F7"/>
                </a:solidFill>
                <a:latin typeface="Consolas"/>
              </a:rPr>
              <a:t> alt=</a:t>
            </a:r>
            <a:r>
              <a:rPr sz="1350" b="0">
                <a:solidFill>
                  <a:srgbClr val="9ECE6A"/>
                </a:solidFill>
                <a:latin typeface="Consolas"/>
              </a:rPr>
              <a:t>"Logo"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 width=</a:t>
            </a:r>
            <a:r>
              <a:rPr sz="1350" b="0">
                <a:solidFill>
                  <a:srgbClr val="9ECE6A"/>
                </a:solidFill>
                <a:latin typeface="Consolas"/>
              </a:rPr>
              <a:t>"150"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ul/li = lista não ordenada (a ordem não importa)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ol/li = lista ordenada (passos, ranking)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dl/dt/dd = lista de definição (termo + significado)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Aninhamento: lista dentro de 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Menus e sumários são semanticamente listas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4 · AULA 12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Listas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&lt;ul&gt; &lt;li&gt;Pão&lt;/li&gt; &lt;li&gt;Leite&lt;/li&gt; &lt;/ul&gt;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&lt;ol&gt; &lt;li&gt;Misture&lt;/li&gt; &lt;li&gt;Asse&lt;/li&gt; &lt;/ol&gt;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&lt;dl&gt;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&lt;dt&gt;HTML&lt;/dt&gt;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&lt;dd&gt;Linguagem de marcação.&lt;/dd&gt;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&lt;/dl&gt;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Projeto “Meu Primeiro Site”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Construa um site com 3 páginas interligadas (index.html, sobre.html, contato.html):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Galeria de imagens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Dentro do Meu Primeiro Site, crie galeria.html com 3 imagens na pasta imagens/, cada uma com: caminho relativo correto, alt descritivo e largura ajustada. Adicione a página ao menu das demais.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Receita em lista ordenada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receita.html com: h1 (nome do prato), uma ul com os ingredientes, uma ol com o modo de preparo e uma dl explicando 2 termos culinários. Link no menu.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Caminhos relativos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A página pages/produtos.html precisa exibir a imagem imagens/foto.jpg (ambas dentro da pasta do projeto). Qual caminho correto no src? E se a imagem estivesse em pages/img/foto.jpg?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criar um link que abre a página sobre.html do próprio site, usamos: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atributo target="_blank" faz o link: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abrir em uma nova aba/janela.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ficar em negrito.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abrir apenas se o site for HTTPS.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ser invisível na página.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Uma página em pages/noticia.html quer exibir imagens/foto.jpg (pasta imagens/ na raiz do projeto). O src correto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imagens/foto.jpg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pages/imagens/foto.jpg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../imagens/foto.jpg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/foto.jpg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função do atributo alt em uma imagem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definir o tamanho da imagem na tela.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descrever a imagem para acessibilidade e para quando ela não carregar.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criar um link ao clicar na imagem.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indicar o formato do arquivo (jpg, png...).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4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exibir os passos de uma receita, em que a ordem importa, o tipo de lista adequado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ul — não ordenada, com marcadores.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ol — ordenada, com numeração automática.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dl — lista de definição.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table — tabela de passos.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5  ·  AULAS 13 A 18  ·  SEMANAS 5 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HTML – tabelas e formulários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 — Ferramentas para Desenvolvimento Web (HTML)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Construir tabelas com table, tr, th e td.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Organizar tabelas com thead, tbody, tfoot e mesclar células com colspan.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formulários com form, label e os principais tipos de input.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select, textarea e button em formulários completos.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Desenvolver o projeto HTML de um site de empresa fictícia (entrega A1).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Tabelas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table → tr (linha) → th (cabeçalho) / td (dado)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th: negrito e centralizado por padrão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Toda célula fica dentro de uma linha (tr)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border='1' apenas para estudo — bordas reais vêm do 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Tabela básica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&lt;table border=</a:t>
            </a:r>
            <a:r>
              <a:rPr sz="1350" b="0">
                <a:solidFill>
                  <a:srgbClr val="9ECE6A"/>
                </a:solidFill>
                <a:latin typeface="Consolas"/>
              </a:rPr>
              <a:t>"1"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&lt;tr&gt; &lt;th&gt;Nome&lt;/th&gt; &lt;th&gt;Curso&lt;/th&gt; 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&lt;tr&gt; &lt;td&gt;Ana&lt;/td&gt;  &lt;td&gt;Informática&lt;/td&gt; 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&lt;tr&gt; &lt;td&gt;João&lt;/td&gt; &lt;td&gt;Informática&lt;/td&gt; 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&lt;/table&gt;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Tabelas na prática: thead, tbody, tfoot e colspan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thead = cabeçalho · tbody = corpo · tfoot = rodapé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colspan='N': célula ocupa N colunas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Remova as células 'engolidas' pelo colspan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Tabela é para dados tabulares — layout é com 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Tabela organizada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&lt;thead&gt; &lt;tr&gt;&lt;th&gt;Nome&lt;/th&gt;&lt;th&gt;Curso&lt;/th&gt;&lt;th&gt;Nota&lt;/th&gt;&lt;/tr&gt; &lt;/thead&gt;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&lt;tbody&gt; &lt;tr&gt;&lt;td&gt;Ana&lt;/td&gt;&lt;td&gt;Inf.&lt;/td&gt;&lt;td&gt;9,0&lt;/td&gt;&lt;/tr&gt; &lt;/tbody&gt;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&lt;tfoot&gt;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&lt;tr&gt;&lt;td colspan=</a:t>
            </a:r>
            <a:r>
              <a:rPr sz="1350" b="0">
                <a:solidFill>
                  <a:srgbClr val="9ECE6A"/>
                </a:solidFill>
                <a:latin typeface="Consolas"/>
              </a:rPr>
              <a:t>"2"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&gt;Média&lt;/td&gt;&lt;td&gt;8,25&lt;/td&gt;&lt;/tr&gt;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&lt;/tfoot&gt;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Formulários: form, label 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form action method = envelope dos dados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label for + input id = rótulo associado ao campo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name = identificador do campo para o servidor (obrigatório!)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types: text, email, password, number, date, checkbox, radio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radio = 1 opção do grupo (mesmo name) · checkbox = várias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required e placeholder ajudam o usuário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Formulário básico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&lt;form action=</a:t>
            </a:r>
            <a:r>
              <a:rPr sz="1350" b="0">
                <a:solidFill>
                  <a:srgbClr val="9ECE6A"/>
                </a:solidFill>
                <a:latin typeface="Consolas"/>
              </a:rPr>
              <a:t>"processar.php"</a:t>
            </a:r>
            <a:r>
              <a:rPr sz="1350" b="0">
                <a:solidFill>
                  <a:srgbClr val="DCE9F7"/>
                </a:solidFill>
                <a:latin typeface="Consolas"/>
              </a:rPr>
              <a:t> method=</a:t>
            </a:r>
            <a:r>
              <a:rPr sz="1350" b="0">
                <a:solidFill>
                  <a:srgbClr val="9ECE6A"/>
                </a:solidFill>
                <a:latin typeface="Consolas"/>
              </a:rPr>
              <a:t>"post"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&lt;label </a:t>
            </a:r>
            <a:r>
              <a:rPr sz="1350" b="0">
                <a:solidFill>
                  <a:srgbClr val="D38AE0"/>
                </a:solidFill>
                <a:latin typeface="Consolas"/>
              </a:rPr>
              <a:t>for</a:t>
            </a:r>
            <a:r>
              <a:rPr sz="1350" b="0">
                <a:solidFill>
                  <a:srgbClr val="DCE9F7"/>
                </a:solidFill>
                <a:latin typeface="Consolas"/>
              </a:rPr>
              <a:t>=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&gt;Nome:&lt;/label&gt;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&lt;input type=</a:t>
            </a:r>
            <a:r>
              <a:rPr sz="1350" b="0">
                <a:solidFill>
                  <a:srgbClr val="9ECE6A"/>
                </a:solidFill>
                <a:latin typeface="Consolas"/>
              </a:rPr>
              <a:t>"text"</a:t>
            </a:r>
            <a:r>
              <a:rPr sz="1350" b="0">
                <a:solidFill>
                  <a:srgbClr val="DCE9F7"/>
                </a:solidFill>
                <a:latin typeface="Consolas"/>
              </a:rPr>
              <a:t> id=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 name=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 required&gt;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&lt;button type=</a:t>
            </a:r>
            <a:r>
              <a:rPr sz="1350" b="0">
                <a:solidFill>
                  <a:srgbClr val="9ECE6A"/>
                </a:solidFill>
                <a:latin typeface="Consolas"/>
              </a:rPr>
              <a:t>"submit"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&gt;Enviar&lt;/button&gt;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&lt;/form&gt;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Formulários na prática: cadastro de aluno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Cadastro de aluno: text, email, date, radio, password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 campo: label + id + name (+ required)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Radios do grupo 'curso' com mesmo name, values diferentes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Ordem lógica dos campos melhora a usabilidade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placeholder = dica; não substitui o label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Select, textarea e buttons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select/option = lista suspensa (muitas opções)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option disabled+selected = 'Selecione...' inicial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textarea rows cols = texto de várias linhas (tem fechamento!)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button type submit / reset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Poucas opções → radio; muitas → select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select + textarea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&lt;select name=</a:t>
            </a:r>
            <a:r>
              <a:rPr sz="1350" b="0">
                <a:solidFill>
                  <a:srgbClr val="9ECE6A"/>
                </a:solidFill>
                <a:latin typeface="Consolas"/>
              </a:rPr>
              <a:t>"turno"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&lt;option value=</a:t>
            </a:r>
            <a:r>
              <a:rPr sz="1350" b="0">
                <a:solidFill>
                  <a:srgbClr val="9ECE6A"/>
                </a:solidFill>
                <a:latin typeface="Consolas"/>
              </a:rPr>
              <a:t>""</a:t>
            </a:r>
            <a:r>
              <a:rPr sz="1350" b="0">
                <a:solidFill>
                  <a:srgbClr val="DCE9F7"/>
                </a:solidFill>
                <a:latin typeface="Consolas"/>
              </a:rPr>
              <a:t> disabled selected&gt;Selecione...&lt;/option&gt;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&lt;option value=</a:t>
            </a:r>
            <a:r>
              <a:rPr sz="1350" b="0">
                <a:solidFill>
                  <a:srgbClr val="9ECE6A"/>
                </a:solidFill>
                <a:latin typeface="Consolas"/>
              </a:rPr>
              <a:t>"manha"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&gt;Manhã&lt;/option&gt;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&lt;/select&gt;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&lt;textarea name=</a:t>
            </a:r>
            <a:r>
              <a:rPr sz="1350" b="0">
                <a:solidFill>
                  <a:srgbClr val="9ECE6A"/>
                </a:solidFill>
                <a:latin typeface="Consolas"/>
              </a:rPr>
              <a:t>"mensagem"</a:t>
            </a:r>
            <a:r>
              <a:rPr sz="1350" b="0">
                <a:solidFill>
                  <a:srgbClr val="DCE9F7"/>
                </a:solidFill>
                <a:latin typeface="Consolas"/>
              </a:rPr>
              <a:t> rows=</a:t>
            </a:r>
            <a:r>
              <a:rPr sz="1350" b="0">
                <a:solidFill>
                  <a:srgbClr val="9ECE6A"/>
                </a:solidFill>
                <a:latin typeface="Consolas"/>
              </a:rPr>
              <a:t>"4"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&gt;&lt;/textarea&gt;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 · AULA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Projeto HTML: site da empresa fictícia (entrega A1)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 A1 (10 pts): site da empresa fictícia — 4 páginas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index · empresa · produtos · contato — menu em todas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Requisitos: HTML5, semântica, imagem+alt, listas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produtos: tabela com thead/tbody/tfoot + colspan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contato: formulário completo (select, textarea, checkbox)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Organização: pasta imagens/, nomes sem acento/espaço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Tabela de horários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horarios.html com a tabela do seu horário escolar: 1ª linha com th (dias da semana) e as demais com as aulas (td). Use thead e tbody.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Tabela de alunos com tfoot e colspan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Construa a tabela de alunos (Nome, Curso, Nota) com 4 registros, usando thead, tbody e tfoot. No tfoot, uma célula com colspan="2" (ex.: “Média da turma”) e a média na última coluna.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Cadastro de aluno completo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Monte cadastro.html com: nome (text, required), e-mail (email, required), telefone (text, placeholder), data de nascimento (date), curso (radio: Informática, Administração, Redes), turno (select), observações (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Projeto A1 — site da empresa fictícia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Em duplas (ou individual, a critério do professor), desenvolva o site completo da empresa fictícia conforme os requisitos da aula 18. Trabalho avaliativo — 10 pts da A1 (S). Entrega: semana 6, via AVA/Drive + 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Em uma tabela HTML, a diferença entre th e td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th é célula de dado; td é célula de cabeçalho.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th é célula de cabeçalho (destacada); td é célula de 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th só pode ser usado no tfoot.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há diferença: são sinônimos.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atributo colspan="3" em uma célula faz com que ela: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seja repetida em 3 linhas.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ocupe o espaço de 3 colunas.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tenha 3 pixels de borda.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exiba 3 textos diferentes.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Em um formulário, o atributo label for="nome" deve casar com qual atributo do input?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name="nome"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id="nome"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value="nome"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type="nome"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o usuário escolher apenas uma opção entre “Manhã, Tarde ou Noite”, o campo adequado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 checkboxes com names diferentes.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 inputs type="radio" com o mesmo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 inputs type="text".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1 textarea listando as opções.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5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form, os atributos action e method definem, respectivamente: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estilo do formulário e a cor do botão.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arquivo que processará os dados e o modo de envio (get/post).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título da página e o idioma.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quais campos são obrigatórios e seus tipos.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1 — 30 pts (semanas 1 a 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Trabalho prático de HTML “site da empresa fictícia” — 10 pts (entrega semana 6)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Atividades extraclasse/AVA e exercícios — 5 pts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Teste escrito-prático sobre Web e HTML — 15 pts (semana 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do teste e rubrica do trabalho: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INTRODUÇÃO AO 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19 A 36  ·  SEMANAS 7 A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6 — Introdução ao PHP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7 — PHP básico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8 — PHP – lógica (decisões)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9 — PHP – repetição e arrays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6  ·  AULAS 19 A 21  ·  SEMANA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Introdução ao 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Introdução ao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Explicar o que é PHP e diferenciá-lo do HTML (servidor × navegador).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Configurar o ambiente com servidor local (XAMPP ou similar).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Escrever e executar o primeiro programa PHP (echo, blocos 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Misturar HTML e PHP no mesmo arquivo para gerar conteúdo dinâmico.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 que é PHP?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PHP = linguagem de programação do lado do SERVIDOR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HTML: navegador exibe (estático) · PHP: servidor processa e gera HTML (dinâmico)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Fluxo: requisição → servidor executa PHP → resposta em HTML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Ambiente: XAMPP → Apache iniciado → projeto em htdocs/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Acesso: http://localhost/meu-site/pagina.php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Primeiro programa 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Bloco PHP: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echo "texto"; → envia conteúdo para a página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Toda instrução termina com ; (erro nº 1: esquecer!)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Strings entre aspas · comentários // e /* */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Ctrl+U no navegador mostra só o HTML gerado (nunca o PHP)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20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ola.php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"Olá, mundo!"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"&lt;br&gt;"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"PHP roda no servidor."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PHP + HTML no mesmo arquivo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Arquivo .php = HTML normal + blocos  intercalados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Servidor executa o PHP e entrega HTML pronto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Conteúdo dinâmico: o mesmo arquivo, resultados diferentes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date('d/m/Y') e date('H:i') — data e hora do servidor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Ponto (.) concatena textos no 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6 · AULA 21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pagina.php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&lt;h1&gt;Bem-vindo!&lt;/h1&gt;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"&lt;p&gt;Hoje é "</a:t>
            </a:r>
            <a:r>
              <a:rPr sz="1350" b="0">
                <a:solidFill>
                  <a:srgbClr val="DCE9F7"/>
                </a:solidFill>
                <a:latin typeface="Consolas"/>
              </a:rPr>
              <a:t> . </a:t>
            </a:r>
            <a:r>
              <a:rPr sz="1350" b="0">
                <a:solidFill>
                  <a:srgbClr val="6CB6FF"/>
                </a:solidFill>
                <a:latin typeface="Consolas"/>
              </a:rPr>
              <a:t>date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9ECE6A"/>
                </a:solidFill>
                <a:latin typeface="Consolas"/>
              </a:rPr>
              <a:t>"d/m/Y"</a:t>
            </a:r>
            <a:r>
              <a:rPr sz="1350" b="0">
                <a:solidFill>
                  <a:srgbClr val="DCE9F7"/>
                </a:solidFill>
                <a:latin typeface="Consolas"/>
              </a:rPr>
              <a:t>) . </a:t>
            </a:r>
            <a:r>
              <a:rPr sz="1350" b="0">
                <a:solidFill>
                  <a:srgbClr val="9ECE6A"/>
                </a:solidFill>
                <a:latin typeface="Consolas"/>
              </a:rPr>
              <a:t>".&lt;/p&gt;"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&lt;p&gt;Isto é HTML puro.&lt;/p&gt;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Olá, mundo! em PHP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Com o Apache iniciado e o projeto em htdocs/meu-site/, crie ola.php que exiba: seu nome em um h1, um parágrafo dizendo por que você escolheu o curso e a data de hoje (date).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Cartão de visita dinâmico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cartao.php com a estrutura HTML5 completa e, no body, um bloco PHP que gere dinamicamente: uma saudação conforme nada (apenas texto), a data e a hora completas e uma mensagem com strong.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O que o navegador recebe?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Sem executar, escreva o HTML que o navegador recebe (saída) para o código abaixo: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código PHP é executado: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navegador do usuário.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servidor Web, antes de a página ser enviada.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editor de código, ao salvar o arquivo.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sistema DNS.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comando usado para exibir conteúdo na página em PHP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print-screen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echo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display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arquivo com PHP deve ter qual extensão e como deve ser acessado?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.html, com dois cliques no arquivo.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.php, pelo endereço http://localhost/...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.php, com dois cliques no arquivo.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.txt, pelo bloco de notas.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que o comando echo "3" . "4"; exibe?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 de sintaxe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6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Uma página mostra a data de hoje diferente a cada acesso, mesmo sendo o mesmo arquivo. Isso acontece porque: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navegador guarda datas aleatórias.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HTML foi recompilado.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PHP gera conteúdo dinâmico no servidor a cada requisição.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DNS altera o conteúdo enviado.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7  ·  AULAS 22 A 26  ·  SEMANAS 8 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PHP básico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Introdução ao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Declarar e exibir variáveis em PHP.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Identificar os tipos de dados (string, integer, float, boolean) e inspecioná-los com var_dump().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operadores aritméticos e de concatenação em expressões.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Diferenciar operadores de comparação (== × ===).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Combinar condições com operadores lógicos (&amp;&amp;, ||, !).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Variáveis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Variável: $nome = valor; (o $ sempre acompanha)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PHP descobre o tipo sozinho (dinâmico)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Nomes: sem número no início, sem acento, case-sensitive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= atribui · == / === comparam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Constantes: define('PI', 3.14); — MAIÚSCULAS, sem $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Variáveis e constantes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$nome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"Maria"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$idade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17;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"Nome: $nome - Idade: $idade"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define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9ECE6A"/>
                </a:solidFill>
                <a:latin typeface="Consolas"/>
              </a:rPr>
              <a:t>"PI"</a:t>
            </a:r>
            <a:r>
              <a:rPr sz="1350" b="0">
                <a:solidFill>
                  <a:srgbClr val="DCE9F7"/>
                </a:solidFill>
                <a:latin typeface="Consolas"/>
              </a:rPr>
              <a:t>, 3.14159);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PI * 2 * 2;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Tipos de dados e var_dump()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string 'texto' · integer 17 · float 1.65 · boolean true/false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var_dump($x) mostra tipo + valor — use sem dó!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'17' (string) ≠ 17 (integer)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Booleanos são a base das decisões (if)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Arrays vêm no módulo 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Inspecionando tipos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$idade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17;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var_dump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$idade</a:t>
            </a:r>
            <a:r>
              <a:rPr sz="1350" b="0">
                <a:solidFill>
                  <a:srgbClr val="DCE9F7"/>
                </a:solidFill>
                <a:latin typeface="Consolas"/>
              </a:rPr>
              <a:t>);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int(17)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$texto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"17"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var_dump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$texto</a:t>
            </a:r>
            <a:r>
              <a:rPr sz="1350" b="0">
                <a:solidFill>
                  <a:srgbClr val="DCE9F7"/>
                </a:solidFill>
                <a:latin typeface="Consolas"/>
              </a:rPr>
              <a:t>);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string(2) "17"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Operadores aritméticos e expressões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+ − * / % ** e o ponto (.) de concatenação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% = resto da divisão (par/ímpar, múltiplos)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Precedência: () → ** → * / % → + 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Média: ($n1 + $n2) / 2 — parênteses importam!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⚠ Semana 8: AVALIAÇÃO 1 (30 pts) — rever módulos 1–5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Calculadora simples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$nota1</a:t>
            </a:r>
            <a:r>
              <a:rPr sz="1350" b="0">
                <a:solidFill>
                  <a:srgbClr val="DCE9F7"/>
                </a:solidFill>
                <a:latin typeface="Consolas"/>
              </a:rPr>
              <a:t> = 8.0; </a:t>
            </a:r>
            <a:r>
              <a:rPr sz="1350" b="0">
                <a:solidFill>
                  <a:srgbClr val="F2777A"/>
                </a:solidFill>
                <a:latin typeface="Consolas"/>
              </a:rPr>
              <a:t>$nota2</a:t>
            </a:r>
            <a:r>
              <a:rPr sz="1350" b="0">
                <a:solidFill>
                  <a:srgbClr val="DCE9F7"/>
                </a:solidFill>
                <a:latin typeface="Consolas"/>
              </a:rPr>
              <a:t> = 6.5;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 = (</a:t>
            </a:r>
            <a:r>
              <a:rPr sz="1350" b="0">
                <a:solidFill>
                  <a:srgbClr val="F2777A"/>
                </a:solidFill>
                <a:latin typeface="Consolas"/>
              </a:rPr>
              <a:t>$nota1</a:t>
            </a:r>
            <a:r>
              <a:rPr sz="1350" b="0">
                <a:solidFill>
                  <a:srgbClr val="DCE9F7"/>
                </a:solidFill>
                <a:latin typeface="Consolas"/>
              </a:rPr>
              <a:t> + </a:t>
            </a:r>
            <a:r>
              <a:rPr sz="1350" b="0">
                <a:solidFill>
                  <a:srgbClr val="F2777A"/>
                </a:solidFill>
                <a:latin typeface="Consolas"/>
              </a:rPr>
              <a:t>$nota2</a:t>
            </a:r>
            <a:r>
              <a:rPr sz="1350" b="0">
                <a:solidFill>
                  <a:srgbClr val="DCE9F7"/>
                </a:solidFill>
                <a:latin typeface="Consolas"/>
              </a:rPr>
              <a:t>) / 2;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"Média: $media"</a:t>
            </a:r>
            <a:r>
              <a:rPr sz="1350" b="0">
                <a:solidFill>
                  <a:srgbClr val="DCE9F7"/>
                </a:solidFill>
                <a:latin typeface="Consolas"/>
              </a:rPr>
              <a:t>;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7.25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10 % 3;          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1 (resto)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Operadores de comparação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== igual (valor) · === idêntico (valor E tipo)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!= !== diferentes · &gt; = &lt;= tamanho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5 == '5' → true · 5 === '5' → false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Resultado é sempre boolean (true/false)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Textos: comparação diferencia maiúsculas ('Ana' ≠ 'ana')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== vs ===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 = 5;  </a:t>
            </a:r>
            <a:r>
              <a:rPr sz="1350" b="0">
                <a:solidFill>
                  <a:srgbClr val="F2777A"/>
                </a:solidFill>
                <a:latin typeface="Consolas"/>
              </a:rPr>
              <a:t>$b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"5"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var_dump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 == </a:t>
            </a:r>
            <a:r>
              <a:rPr sz="1350" b="0">
                <a:solidFill>
                  <a:srgbClr val="F2777A"/>
                </a:solidFill>
                <a:latin typeface="Consolas"/>
              </a:rPr>
              <a:t>$b</a:t>
            </a:r>
            <a:r>
              <a:rPr sz="1350" b="0">
                <a:solidFill>
                  <a:srgbClr val="DCE9F7"/>
                </a:solidFill>
                <a:latin typeface="Consolas"/>
              </a:rPr>
              <a:t>);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true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var_dump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 === </a:t>
            </a:r>
            <a:r>
              <a:rPr sz="1350" b="0">
                <a:solidFill>
                  <a:srgbClr val="F2777A"/>
                </a:solidFill>
                <a:latin typeface="Consolas"/>
              </a:rPr>
              <a:t>$b</a:t>
            </a:r>
            <a:r>
              <a:rPr sz="1350" b="0">
                <a:solidFill>
                  <a:srgbClr val="DCE9F7"/>
                </a:solidFill>
                <a:latin typeface="Consolas"/>
              </a:rPr>
              <a:t>);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Operadores 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&amp;&amp; (E): true só se os dois lados forem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|| (OU): true se pelo menos um lado for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! (NÃO): inverte o valor lógico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Ex.: aprovado = ($media &gt;= 7) &amp;&amp; ($freq &gt;= 75)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Parênteses em cada comparação = clareza + segurança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 · AULA 26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Condição composta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 = 8.0; </a:t>
            </a:r>
            <a:r>
              <a:rPr sz="1350" b="0">
                <a:solidFill>
                  <a:srgbClr val="F2777A"/>
                </a:solidFill>
                <a:latin typeface="Consolas"/>
              </a:rPr>
              <a:t>$freq</a:t>
            </a:r>
            <a:r>
              <a:rPr sz="1350" b="0">
                <a:solidFill>
                  <a:srgbClr val="DCE9F7"/>
                </a:solidFill>
                <a:latin typeface="Consolas"/>
              </a:rPr>
              <a:t> = 80;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$aprovado</a:t>
            </a:r>
            <a:r>
              <a:rPr sz="1350" b="0">
                <a:solidFill>
                  <a:srgbClr val="DCE9F7"/>
                </a:solidFill>
                <a:latin typeface="Consolas"/>
              </a:rPr>
              <a:t> = (</a:t>
            </a: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7) &amp;&amp; (</a:t>
            </a:r>
            <a:r>
              <a:rPr sz="1350" b="0">
                <a:solidFill>
                  <a:srgbClr val="F2777A"/>
                </a:solidFill>
                <a:latin typeface="Consolas"/>
              </a:rPr>
              <a:t>$freq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75);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6CB6FF"/>
                </a:solidFill>
                <a:latin typeface="Consolas"/>
              </a:rPr>
              <a:t>var_dump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$aprovado</a:t>
            </a:r>
            <a:r>
              <a:rPr sz="1350" b="0">
                <a:solidFill>
                  <a:srgbClr val="DCE9F7"/>
                </a:solidFill>
                <a:latin typeface="Consolas"/>
              </a:rPr>
              <a:t>);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Laboratório de variáveis e tipos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variaveis.php com 4 variáveis sobre você: $nome (string), $idade (integer), $altura (float) e $estuda (boolean = true). Exiba cada uma com echo em um parágrafo e confirme os tipos com var_dump().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Calculadora simples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calculadora.php com duas variáveis $a = 12 e $b = 5. Exiba, cada um em uma linha: soma, subtração, multiplicação, divisão, resto (%) e a média.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Preveja a saída (== × ===)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Sem executar, anote true ou false para cada expressão e depois confirme no PHP: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Elegibilidade com condição composta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eleicao.php: variáveis $idade = 17 e $temTitulo = true. Com uma única expressão lógica, defina $podeVotar = (idade &gt;= 16) &amp;&amp; $temTitulo e exiba o resultado com uma mensagem amigável.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é a forma correta de declarar uma variável em PHP?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nome = "Ana";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var nome = "Ana";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$nome = "Ana";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string $nome = "Ana";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comando var_dump($x)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apagar a variável $x.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exibir o tipo e o valor da variável.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somar todos os valores guardados.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converter $x para string.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é o resultado de 10 % 3?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3.33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resultado de 5 === "5"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true, pois os valores são iguais.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false, pois os tipos são diferentes (integer × string).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 de sintaxe.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string "5".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7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expressão (true &amp;&amp; false) || true resulta em: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SEMANA 8 — TESTE ESCRITO-PRÁTICO DA A1 (15 pts)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Conteúdo: Web (cliente/servidor, URL, DNS, hospedagem) + HTML (módulos 3 a 5)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Parte A: 6 objetivas · Parte B: 3 práticas (escrever/corrigir código)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completo na seção AVALIAÇÕES da apostila — use como revisão!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8  ·  AULAS 27 A 29  ·  SEMANAS 9 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PHP – lógica (decisões)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Introdução ao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Usar a estrutura if para executar blocos condicionais.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Aplicar if/else/elseif para múltiplas condições (ex.: situação do aluno).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Utilizar switch com case, break e default para menus de opções.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Escolher a estrutura adequada (if × switch) para cada situação.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if (condição) { bloco } — executa se a condição for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Condição: comparações e operadores lógicos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false → bloco é pulado; código segue depois do if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NUNCA use = no if (atribui!); use == ou ===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Sempre usar chaves { } e indentar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Primeiro 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$idade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17;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$idade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18)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"Pode dirigir."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"Fim."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IF / ELSE / ELSEIF — situação do aluno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if/else: dois caminhos (true / false)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elseif: vários caminhos testados em ordem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Apenas o PRIMEIRO bloco verdadeiro executa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Ordem: condição mais restritiva primeiro (&gt;= 7 antes de &gt;= 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Situação do aluno: aprovado / recuperação / reprovado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Situação do aluno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$nota</a:t>
            </a:r>
            <a:r>
              <a:rPr sz="1350" b="0">
                <a:solidFill>
                  <a:srgbClr val="DCE9F7"/>
                </a:solidFill>
                <a:latin typeface="Consolas"/>
              </a:rPr>
              <a:t> = 6.5;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$nota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7)  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"APROVADO"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elseif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$nota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5)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"RECUPERAÇÃO"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else</a:t>
            </a:r>
            <a:r>
              <a:rPr sz="1350" b="0">
                <a:solidFill>
                  <a:srgbClr val="DCE9F7"/>
                </a:solidFill>
                <a:latin typeface="Consolas"/>
              </a:rPr>
              <a:t>             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"REPROVADO"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SWITCH — menu de opções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switch ($var) { case valor: ... break; default: ...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Compara 1 variável com valores FIXOS (menus)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break encerra — sem ele, cascata de cases!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default = opção inválida (o 'else' do switch)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Faixas/condições compostas → if · opções fixas → switch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8 · AULA 29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Menu com switch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switch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$opcao</a:t>
            </a:r>
            <a:r>
              <a:rPr sz="1350" b="0">
                <a:solidFill>
                  <a:srgbClr val="DCE9F7"/>
                </a:solidFill>
                <a:latin typeface="Consolas"/>
              </a:rPr>
              <a:t>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case</a:t>
            </a:r>
            <a:r>
              <a:rPr sz="1350" b="0">
                <a:solidFill>
                  <a:srgbClr val="DCE9F7"/>
                </a:solidFill>
                <a:latin typeface="Consolas"/>
              </a:rPr>
              <a:t> 1: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"Cadastrar"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break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case</a:t>
            </a:r>
            <a:r>
              <a:rPr sz="1350" b="0">
                <a:solidFill>
                  <a:srgbClr val="DCE9F7"/>
                </a:solidFill>
                <a:latin typeface="Consolas"/>
              </a:rPr>
              <a:t> 2: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"Consultar"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break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case</a:t>
            </a:r>
            <a:r>
              <a:rPr sz="1350" b="0">
                <a:solidFill>
                  <a:srgbClr val="DCE9F7"/>
                </a:solidFill>
                <a:latin typeface="Consolas"/>
              </a:rPr>
              <a:t> 3: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"Sair"</a:t>
            </a:r>
            <a:r>
              <a:rPr sz="1350" b="0">
                <a:solidFill>
                  <a:srgbClr val="DCE9F7"/>
                </a:solidFill>
                <a:latin typeface="Consolas"/>
              </a:rPr>
              <a:t>;  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break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default</a:t>
            </a:r>
            <a:r>
              <a:rPr sz="1350" b="0">
                <a:solidFill>
                  <a:srgbClr val="DCE9F7"/>
                </a:solidFill>
                <a:latin typeface="Consolas"/>
              </a:rPr>
              <a:t>: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"Inválida!"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Situação do aluno (completo)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situacao.php com as variáveis $nota e $frequencia. Regras: aprovado se nota ≥ 7 E frequência ≥ 75; recuperação se nota entre 5 e 6,9 (frequência ok); caso contrário, reprovado. Se a frequência for &lt; 75, 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Verificador de maioridade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maioridade.php: dada $idade, exiba “Maior de idade — pode votar e dirigir” (≥18), “Pode votar mas não dirigir” (16–17) ou “Menor de idade” (&lt;16).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Menu da lanchonete com switch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lanchonete.php com $pedido. Cases: 1 = “Sanduíche — R$ 8,00”, 2 = “Suco — R$ 5,00”, 3 = “Combo — R$ 12,00”, default = “Pedido inválido”. Teste com os 4 cenários.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O que aparece na tela?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Sem executar, escreva a saída exata de cada programa: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bloco de um if é executado quando: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condição resulta em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condição resulta em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sempre, independentemente da condição.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apenas se houver um else.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Em uma cadeia if/elseif/else, quando uma condição elseif é verdadeira: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todos os blocos seguintes também executam.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apenas o bloco dela executa e o restante da cadeia é ignorado.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programa gera um erro.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bloco do else executa junto.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No programa da situação do aluno (&gt;=7 aprovado; &gt;=5 recuperação; else reprovado), qual é a saída para nota = 8?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RECUPERAÇÃO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REPROVADO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APROVADO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APROVADO e RECUPERAÇÃO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palavra-chave break dentro de um switch serve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reiniciar o switch.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encerrar o switch, evitando que os cases seguintes executem.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pular para o 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comparar o valor com o próximo case.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8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que está errado em if ($nota = 7) { echo "Aprovado"; }?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Falta o ponto e vírgula dentro do 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Deveria usar == ou === para comparar; = está atribuindo 7 à variável.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condição deveria estar sem parênteses.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Nada: o código está correto.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9  ·  AULAS 30 A 35  ·  SEMANAS 10 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PHP – repetição e arrays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III — Introdução ao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Repetir blocos de código com for, while e do...while.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Escolher o laço adequado para cada situação e evitar laços infinitos.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e acessar arrays indexados.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Percorrer arrays com foreach.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Utilizar arrays associativos (chave =&gt; valor).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Laço for — repetição com contador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Laço = repetir bloco várias vezes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 (início; condição; passo) — quando se sabe quantas vezes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$i++ = $i + 1 · $i-- = $i − 1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Contagem de 1 a 10, tabuada, contagem regressiva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 condição é testada ANTES de cada volta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 clássico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for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$i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1; </a:t>
            </a:r>
            <a:r>
              <a:rPr sz="1350" b="0">
                <a:solidFill>
                  <a:srgbClr val="F2777A"/>
                </a:solidFill>
                <a:latin typeface="Consolas"/>
              </a:rPr>
              <a:t>$i</a:t>
            </a:r>
            <a:r>
              <a:rPr sz="1350" b="0">
                <a:solidFill>
                  <a:srgbClr val="DCE9F7"/>
                </a:solidFill>
                <a:latin typeface="Consolas"/>
              </a:rPr>
              <a:t> &lt;= 10; </a:t>
            </a:r>
            <a:r>
              <a:rPr sz="1350" b="0">
                <a:solidFill>
                  <a:srgbClr val="F2777A"/>
                </a:solidFill>
                <a:latin typeface="Consolas"/>
              </a:rPr>
              <a:t>$i</a:t>
            </a:r>
            <a:r>
              <a:rPr sz="1350" b="0">
                <a:solidFill>
                  <a:srgbClr val="DCE9F7"/>
                </a:solidFill>
                <a:latin typeface="Consolas"/>
              </a:rPr>
              <a:t>++)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"Número: $i &lt;br&gt;"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Laço 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while (condição) { bloco } — testa ANTES de executar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Use quando não sabe quantas voltas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Padrão: inicializar → testar → avançar ($contador++)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 avanço = LAÇO INFINITO (página trava!)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Condição false no início → 0 execuções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31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$contador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1; </a:t>
            </a:r>
            <a:r>
              <a:rPr sz="1350" b="0">
                <a:solidFill>
                  <a:srgbClr val="F2777A"/>
                </a:solidFill>
                <a:latin typeface="Consolas"/>
              </a:rPr>
              <a:t>$soma</a:t>
            </a:r>
            <a:r>
              <a:rPr sz="1350" b="0">
                <a:solidFill>
                  <a:srgbClr val="DCE9F7"/>
                </a:solidFill>
                <a:latin typeface="Consolas"/>
              </a:rPr>
              <a:t> = 0;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while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$contador</a:t>
            </a:r>
            <a:r>
              <a:rPr sz="1350" b="0">
                <a:solidFill>
                  <a:srgbClr val="DCE9F7"/>
                </a:solidFill>
                <a:latin typeface="Consolas"/>
              </a:rPr>
              <a:t> &lt;= 5)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F2777A"/>
                </a:solidFill>
                <a:latin typeface="Consolas"/>
              </a:rPr>
              <a:t>$soma</a:t>
            </a:r>
            <a:r>
              <a:rPr sz="1350" b="0">
                <a:solidFill>
                  <a:srgbClr val="DCE9F7"/>
                </a:solidFill>
                <a:latin typeface="Consolas"/>
              </a:rPr>
              <a:t> += </a:t>
            </a:r>
            <a:r>
              <a:rPr sz="1350" b="0">
                <a:solidFill>
                  <a:srgbClr val="F2777A"/>
                </a:solidFill>
                <a:latin typeface="Consolas"/>
              </a:rPr>
              <a:t>$contador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F2777A"/>
                </a:solidFill>
                <a:latin typeface="Consolas"/>
              </a:rPr>
              <a:t>$contador</a:t>
            </a:r>
            <a:r>
              <a:rPr sz="1350" b="0">
                <a:solidFill>
                  <a:srgbClr val="DCE9F7"/>
                </a:solidFill>
                <a:latin typeface="Consolas"/>
              </a:rPr>
              <a:t>++;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nunca esquecer!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Laço do...while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do { bloco } while (condição); — executa e DEPOIS testa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Mínimo 1 execução (while pode executar 0 vezes)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Ponto e vírgula final obrigatório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Uso: validar após a ação (menus, senhas, tentativas)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32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 diferença em 4 linhas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$x</a:t>
            </a:r>
            <a:r>
              <a:rPr sz="1350" b="0">
                <a:solidFill>
                  <a:srgbClr val="DCE9F7"/>
                </a:solidFill>
                <a:latin typeface="Consolas"/>
              </a:rPr>
              <a:t> = 10;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while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$x</a:t>
            </a:r>
            <a:r>
              <a:rPr sz="1350" b="0">
                <a:solidFill>
                  <a:srgbClr val="DCE9F7"/>
                </a:solidFill>
                <a:latin typeface="Consolas"/>
              </a:rPr>
              <a:t> &lt; 5) {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"não executa"</a:t>
            </a:r>
            <a:r>
              <a:rPr sz="1350" b="0">
                <a:solidFill>
                  <a:srgbClr val="DCE9F7"/>
                </a:solidFill>
                <a:latin typeface="Consolas"/>
              </a:rPr>
              <a:t>; 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do</a:t>
            </a:r>
            <a:r>
              <a:rPr sz="1350" b="0">
                <a:solidFill>
                  <a:srgbClr val="DCE9F7"/>
                </a:solidFill>
                <a:latin typeface="Consolas"/>
              </a:rPr>
              <a:t> {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"executa 1x"</a:t>
            </a:r>
            <a:r>
              <a:rPr sz="1350" b="0">
                <a:solidFill>
                  <a:srgbClr val="DCE9F7"/>
                </a:solidFill>
                <a:latin typeface="Consolas"/>
              </a:rPr>
              <a:t>; } </a:t>
            </a:r>
            <a:r>
              <a:rPr sz="1350" b="0">
                <a:solidFill>
                  <a:srgbClr val="D38AE0"/>
                </a:solidFill>
                <a:latin typeface="Consolas"/>
              </a:rPr>
              <a:t>while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$x</a:t>
            </a:r>
            <a:r>
              <a:rPr sz="1350" b="0">
                <a:solidFill>
                  <a:srgbClr val="DCE9F7"/>
                </a:solidFill>
                <a:latin typeface="Consolas"/>
              </a:rPr>
              <a:t> &lt; 5);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Arrays indexados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Array = vários valores em uma variável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$alunos = ['Ana', 'Bruno', 'Carla'];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Índices começam em 0: $alunos[0] = 'Ana'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count() = tamanho · $arr[] = x adiciona ao final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sort() ordena o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Array indexado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= [</a:t>
            </a:r>
            <a:r>
              <a:rPr sz="1350" b="0">
                <a:solidFill>
                  <a:srgbClr val="9ECE6A"/>
                </a:solidFill>
                <a:latin typeface="Consolas"/>
              </a:rPr>
              <a:t>"Ana"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"Bruno"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"Carla"</a:t>
            </a: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[0];  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Ana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[]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"Diego"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adiciona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count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);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foreach — percorrendo arrays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foreach ($arr as $item) { } — percorre todos os elementos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foreach ($arr as $i =&gt; $valor) — com o índice junto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Mais simples que for para arrays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Padrão: acumular ($soma += $x) para médias/totais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 = contador · while = condição · foreach =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Lista de alunos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= [</a:t>
            </a:r>
            <a:r>
              <a:rPr sz="1350" b="0">
                <a:solidFill>
                  <a:srgbClr val="9ECE6A"/>
                </a:solidFill>
                <a:latin typeface="Consolas"/>
              </a:rPr>
              <a:t>"Ana"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"Bruno"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"Carla"</a:t>
            </a: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as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</a:t>
            </a:r>
            <a:r>
              <a:rPr sz="1350" b="0">
                <a:solidFill>
                  <a:srgbClr val="DCE9F7"/>
                </a:solidFill>
                <a:latin typeface="Consolas"/>
              </a:rPr>
              <a:t>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"Aluno: $aluno &lt;br&gt;"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Arrays associativos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Array associativo: chave =&gt; valor (chaves com significado)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$aluno = ['nome' =&gt; 'Ana', 'idade' =&gt; 17];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Acesso: $aluno['nome']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foreach ($arr as $campo =&gt; $valor)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Indexado = lista · Associativo = ficha/registro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9 · AULA 35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Ficha do aluno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$aluno</a:t>
            </a:r>
            <a:r>
              <a:rPr sz="1350" b="0">
                <a:solidFill>
                  <a:srgbClr val="DCE9F7"/>
                </a:solidFill>
                <a:latin typeface="Consolas"/>
              </a:rPr>
              <a:t> = [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 =&gt; </a:t>
            </a:r>
            <a:r>
              <a:rPr sz="1350" b="0">
                <a:solidFill>
                  <a:srgbClr val="9ECE6A"/>
                </a:solidFill>
                <a:latin typeface="Consolas"/>
              </a:rPr>
              <a:t>"Ana"</a:t>
            </a:r>
            <a:r>
              <a:rPr sz="1350" b="0">
                <a:solidFill>
                  <a:srgbClr val="DCE9F7"/>
                </a:solidFill>
                <a:latin typeface="Consolas"/>
              </a:rPr>
              <a:t>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9ECE6A"/>
                </a:solidFill>
                <a:latin typeface="Consolas"/>
              </a:rPr>
              <a:t>"idade"</a:t>
            </a:r>
            <a:r>
              <a:rPr sz="1350" b="0">
                <a:solidFill>
                  <a:srgbClr val="DCE9F7"/>
                </a:solidFill>
                <a:latin typeface="Consolas"/>
              </a:rPr>
              <a:t> =&gt; 17,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];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Tabuada com for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tabuada.php que exiba a tabuada de um número $n (de 1 a 10) formatada: “7 x 1 = 7”. Desafio: exibir apenas os números pares de 1 a 20 em outro laço.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while × do...while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somas.php: com $limite = 0, some de 1 até $limite usando while e depois usando do...while, exibindo os dois resultados. Explique (em comentário) por que os resultados diferem.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Lista de alunos com média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alunos.php com dois arrays: $alunos (5 nomes) e $notas (5 notas). Exiba cada nome com sua nota usando foreach com índice ($i =&gt; $valor) e, ao final, a média da turma.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Ficha do aluno (associativo)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ficha.php com um array associativo contendo nome, idade, curso e cidade de um colega. Exiba a ficha formatada percorrendo com foreach ($campo =&gt; $valor).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5.  Preveja a saída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Sem executar, escreva a saída exata: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Quantas vezes o bloco executa em: for ($i = 0; $i &lt; 5; $i++) { ... }?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4 vezes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5 vezes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6 vezes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infinitas vezes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maior risco ao usar while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esquecer o ponto e vírgula do echo.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criar um laço infinito por não atualizar a variável de controle.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usar chaves no bloco.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laço nunca executar a primeira vez.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diferença do do...while para o while é que o do...while: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só funciona com arrays.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executa o bloco pelo menos uma vez, pois testa a condição no final.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precisa de condição.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executa sempre duas vezes.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Dado $frutas = ["maçã", "banana", "uva"], o comando echo $frutas[1]; exibe: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maçã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banana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erro: índice fora do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9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percorrer todos os elementos de um array sem controlar índices manualmente, o laço ideal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while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foreach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do...while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IV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FORMULÁRIOS + 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37 A 42  ·  SEMANAS 13 E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11 — Formulários +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11  ·  AULAS 37 A 42  ·  SEMANAS 13 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Formulários + 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IV — Formulários +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Enviar dados de formulários com os métodos GET e POST.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Ler os dados enviados com $_GET e $_POST.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campos com isset() e empty().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Sanitizar dados com htmlspecialchars() (segurança básica).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Construir o fluxo completo: formulário → processamento → validação → resultado.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Método GET e a superglobal $_GET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method='get': dados viajam na URL (?nome=valor)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$_GET['name_do_campo'] lê o valor no 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$_GET é um array associativo automático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Visível, limitado, favoritado — bom para buscas/filtros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NUNCA enviar senha/dados pessoais por 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GET na prática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&lt;form action=</a:t>
            </a:r>
            <a:r>
              <a:rPr sz="1350" b="0">
                <a:solidFill>
                  <a:srgbClr val="9ECE6A"/>
                </a:solidFill>
                <a:latin typeface="Consolas"/>
              </a:rPr>
              <a:t>"buscar.php"</a:t>
            </a:r>
            <a:r>
              <a:rPr sz="1350" b="0">
                <a:solidFill>
                  <a:srgbClr val="DCE9F7"/>
                </a:solidFill>
                <a:latin typeface="Consolas"/>
              </a:rPr>
              <a:t> method=</a:t>
            </a:r>
            <a:r>
              <a:rPr sz="1350" b="0">
                <a:solidFill>
                  <a:srgbClr val="9ECE6A"/>
                </a:solidFill>
                <a:latin typeface="Consolas"/>
              </a:rPr>
              <a:t>"get"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&lt;input type=</a:t>
            </a:r>
            <a:r>
              <a:rPr sz="1350" b="0">
                <a:solidFill>
                  <a:srgbClr val="9ECE6A"/>
                </a:solidFill>
                <a:latin typeface="Consolas"/>
              </a:rPr>
              <a:t>"text"</a:t>
            </a:r>
            <a:r>
              <a:rPr sz="1350" b="0">
                <a:solidFill>
                  <a:srgbClr val="DCE9F7"/>
                </a:solidFill>
                <a:latin typeface="Consolas"/>
              </a:rPr>
              <a:t> name=</a:t>
            </a:r>
            <a:r>
              <a:rPr sz="1350" b="0">
                <a:solidFill>
                  <a:srgbClr val="9ECE6A"/>
                </a:solidFill>
                <a:latin typeface="Consolas"/>
              </a:rPr>
              <a:t>"produto"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&lt;/form&gt;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7F96AD"/>
                </a:solidFill>
                <a:latin typeface="Consolas"/>
              </a:rPr>
              <a:t>// buscar.php?produto=notebook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$produto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F2777A"/>
                </a:solidFill>
                <a:latin typeface="Consolas"/>
              </a:rPr>
              <a:t>$_GET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"produto"</a:t>
            </a: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Método POST e $_POST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method='post': dados no corpo da requisição (URL limpa)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$_POST['campo'] lê o valor enviado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GET = consultar (busca, filtro) · POST = enviar/cadastrar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POST: sem limite prático, não fica no histórico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Cadastros e logins: sempre 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&lt;form action=</a:t>
            </a:r>
            <a:r>
              <a:rPr sz="1350" b="0">
                <a:solidFill>
                  <a:srgbClr val="9ECE6A"/>
                </a:solidFill>
                <a:latin typeface="Consolas"/>
              </a:rPr>
              <a:t>"contato.php"</a:t>
            </a:r>
            <a:r>
              <a:rPr sz="1350" b="0">
                <a:solidFill>
                  <a:srgbClr val="DCE9F7"/>
                </a:solidFill>
                <a:latin typeface="Consolas"/>
              </a:rPr>
              <a:t> method=</a:t>
            </a:r>
            <a:r>
              <a:rPr sz="1350" b="0">
                <a:solidFill>
                  <a:srgbClr val="9ECE6A"/>
                </a:solidFill>
                <a:latin typeface="Consolas"/>
              </a:rPr>
              <a:t>"post"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&lt;input type=</a:t>
            </a:r>
            <a:r>
              <a:rPr sz="1350" b="0">
                <a:solidFill>
                  <a:srgbClr val="9ECE6A"/>
                </a:solidFill>
                <a:latin typeface="Consolas"/>
              </a:rPr>
              <a:t>"text"</a:t>
            </a:r>
            <a:r>
              <a:rPr sz="1350" b="0">
                <a:solidFill>
                  <a:srgbClr val="DCE9F7"/>
                </a:solidFill>
                <a:latin typeface="Consolas"/>
              </a:rPr>
              <a:t> name=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&lt;/form&gt;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$nome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F2777A"/>
                </a:solidFill>
                <a:latin typeface="Consolas"/>
              </a:rPr>
              <a:t>$_POST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Validação: isset() e empty()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NUNCA confiar nos dados do usuário — validar no servidor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isset($x): o campo foi enviado?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empty($x): o valor está vazio?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Padrão: array $erros[] — valida tudo, mostra todos os erros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required do HTML ajuda, mas pode ser contornado!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39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Validação padrão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 = [];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D38AE0"/>
                </a:solidFill>
                <a:latin typeface="Consolas"/>
              </a:rPr>
              <a:t>empty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$_POST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]))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[]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 obrigatório."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6CB6FF"/>
                </a:solidFill>
                <a:latin typeface="Consolas"/>
              </a:rPr>
              <a:t>count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) &gt; 0) { /* exibir erros */ 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else</a:t>
            </a:r>
            <a:r>
              <a:rPr sz="1350" b="0">
                <a:solidFill>
                  <a:srgbClr val="DCE9F7"/>
                </a:solidFill>
                <a:latin typeface="Consolas"/>
              </a:rPr>
              <a:t> { /* processar */ 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Sanitização e segurança básica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Exibir dado bruto do usuário = risco de XSS (código injetado)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htmlspecialchars($x): &lt; vira &lt; — texto vira texto, não código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Regra: validar a entrada + sanitizar a saída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Sempre: echo htmlspecialchars($dado);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Hábito profissional desde o primeiro 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40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Exibição segura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$msg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"&lt;script&gt;alert('x')&lt;/script&gt;"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$msg</a:t>
            </a:r>
            <a:r>
              <a:rPr sz="1350" b="0">
                <a:solidFill>
                  <a:srgbClr val="DCE9F7"/>
                </a:solidFill>
                <a:latin typeface="Consolas"/>
              </a:rPr>
              <a:t>;                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PERIGO: executa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htmlspecialchars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$msg</a:t>
            </a:r>
            <a:r>
              <a:rPr sz="1350" b="0">
                <a:solidFill>
                  <a:srgbClr val="DCE9F7"/>
                </a:solidFill>
                <a:latin typeface="Consolas"/>
              </a:rPr>
              <a:t>);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SEGURO: só 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Formulário completo com confirmação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Fluxo: preenchimento → envio → processamento → resultado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HTML: form POST com required + label em tudo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PHP: $erros[] valida todos os campos de uma vez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exit interrompe em caso de erro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Confirmação SEMPRE com htmlspecialchars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41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Núcleo do processamento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46888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D38AE0"/>
                </a:solidFill>
                <a:latin typeface="Consolas"/>
              </a:rPr>
              <a:t>empty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$_POST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]))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[] = </a:t>
            </a:r>
            <a:r>
              <a:rPr sz="1350" b="0">
                <a:solidFill>
                  <a:srgbClr val="9ECE6A"/>
                </a:solidFill>
                <a:latin typeface="Consolas"/>
              </a:rPr>
              <a:t>"Informe o nome."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6CB6FF"/>
                </a:solidFill>
                <a:latin typeface="Consolas"/>
              </a:rPr>
              <a:t>count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) &gt; 0)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$erros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as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$e</a:t>
            </a:r>
            <a:r>
              <a:rPr sz="1350" b="0">
                <a:solidFill>
                  <a:srgbClr val="DCE9F7"/>
                </a:solidFill>
                <a:latin typeface="Consolas"/>
              </a:rPr>
              <a:t>) </a:t>
            </a: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"&lt;p&gt;$e&lt;/p&gt;"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exit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$nome</a:t>
            </a:r>
            <a:r>
              <a:rPr sz="1350" b="0">
                <a:solidFill>
                  <a:srgbClr val="DCE9F7"/>
                </a:solidFill>
                <a:latin typeface="Consolas"/>
              </a:rPr>
              <a:t> = </a:t>
            </a:r>
            <a:r>
              <a:rPr sz="1350" b="0">
                <a:solidFill>
                  <a:srgbClr val="6CB6FF"/>
                </a:solidFill>
                <a:latin typeface="Consolas"/>
              </a:rPr>
              <a:t>htmlspecialchars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$_POST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]);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11 · AULA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Projeto: cadastro de alunos (HTML + PHP)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 do módulo: cadastro.html + processar.php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Fluxo: preenchimento → validação → resultado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Validação completa: obrigatórios + faixa de idade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Erros: mensagens claras + link 'Voltar'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Saída sanitizada com htmlspecialchars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Persistência real (banco de dados) = PI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Busca com GET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busca.html (campo produto, method=get, action=buscar.php) e buscar.php que receba $_GET["produto"], valide (isset/empty) e exiba “Resultado da busca por: X” (sanitizado). Teste também digitando a URL manua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Contato com POST e validação completa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o formulário de contato completo (nome, e-mail, idade, curso em select, mensagem em textarea) + confirmar.php com array $erros, validação de todos os campos, sanitização e confirmação formatada.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Teste de invasão (sanitização)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No formulário do exercício 2, digite no campo mensagem: alert('XSS') e também negrito?. Envie e observe o resultado. Depois comente a linha do htmlspecialchars e envie de novo. Explique por escrito a diferença.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Projeto do módulo: cadastro de alunos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Desenvolva em dupla o sistema cadastro.html + processar.php conforme a aula 42, atendendo ao checklist de qualidade (6 itens). Entrega pelo AVA.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Com method="get", os dados do formulário são enviados: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corpo da requisição, invisíveis.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na URL, após o ?, no formato nome=valor.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por e-mail automaticamente.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em um arquivo temporário no servidor.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ler no PHP o campo  enviado por POST, usamos: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$_GET["email"]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$_POST["email"]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$_FORM["email"]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$_EMAIL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As funções isset() e empty() servem, respectivamente, para verificar se o dado: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numérico e se é texto.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foi enviado e se está vazio.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está criptografado e se é seguro.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é verdadeiro e se é falso.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função htmlspecialchars() protege a página porque: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criptografa a senha do usuário.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impede o envio do formulário duas vezes.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converte  e aspas em entidades — o dado vira texto, nunca código.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valida se o e-mail digitado existe.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11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Para um formulário de LOGIN (e-mail e senha), o método correto e o motivo são: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GET — porque é mais rápido.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POST — porque os dados não ficam visíveis na URL nem no histórico.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GET — porque a senha aparece criptografada na URL.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Tanto faz: os dois são igualmente seguros para senhas.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V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ORGANIZAÇÃO E DESENVOLVIMENTO DO PROJETO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43 A 48  ·  SEMANAS 15 E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10 — PHP + HTML — organização, include e funções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10  ·  AULAS 36 E 43 A 48  ·  SEMANAS 12, 15 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PHP + HTML — organização, include e funções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 — Organização e Desenvolvimento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Integrar HTML e PHP gerando páginas dinamicamente.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Organizar os arquivos do projeto em pastas (css/, imagens/, includes/).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Reutilizar partes da aplicação com include (cabeçalho e rodapé).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Criar funções com parâmetros e retorno (function, return).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Trabalhar com arrays multidimensionais e foreach aninhado.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Gerar tabelas HTML dinamicamente a partir de dados em PHP.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Revisão cumulativa e projeto “sistema de cadastro simples”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Revisão cumulativa: variáveis → operadores → decisões → laços → arrays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Projeto: página que exibe alunos de um array em tabela HTML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Sintaxe alternativa: foreach (): endforeach;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 = atalho para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36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Tabela gerada por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7432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&lt;table border=</a:t>
            </a:r>
            <a:r>
              <a:rPr sz="1350" b="0">
                <a:solidFill>
                  <a:srgbClr val="9ECE6A"/>
                </a:solidFill>
                <a:latin typeface="Consolas"/>
              </a:rPr>
              <a:t>"1"</a:t>
            </a:r>
            <a:r>
              <a:rPr sz="1350" b="0">
                <a:solidFill>
                  <a:srgbClr val="DCE9F7"/>
                </a:solidFill>
                <a:latin typeface="Consolas"/>
              </a:rPr>
              <a:t>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as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):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&lt;tr&gt;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  &lt;td&gt;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&lt;?=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  <a:r>
              <a:rPr sz="1350" b="0">
                <a:solidFill>
                  <a:srgbClr val="DCE9F7"/>
                </a:solidFill>
                <a:latin typeface="Consolas"/>
              </a:rPr>
              <a:t>&lt;/td&gt;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  &lt;td&gt;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&lt;?=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"nota"</a:t>
            </a:r>
            <a:r>
              <a:rPr sz="1350" b="0">
                <a:solidFill>
                  <a:srgbClr val="DCE9F7"/>
                </a:solidFill>
                <a:latin typeface="Consolas"/>
              </a:rPr>
              <a:t>]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  <a:r>
              <a:rPr sz="1350" b="0">
                <a:solidFill>
                  <a:srgbClr val="DCE9F7"/>
                </a:solidFill>
                <a:latin typeface="Consolas"/>
              </a:rPr>
              <a:t>&lt;/td&gt;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endforeach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&lt;/table&gt;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Organização de arquivos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 tipo de arquivo em sua pasta: css/, imagens/, includes/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Páginas principais na raiz: index, cadastro, listar, processar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Organizar = encontrar, reutilizar, hospedar, colaborar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Nomes: minúsculos, sem acento, sem espaço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43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do projeto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meu-projeto/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index.php · cadastro.php · listar.php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css/estilo.css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├── imagens/logo.png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└── includes/cabecalho.php + rodape.php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include — reutilizando partes da aplicação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Não repetir código: escrever 1×, incluir N×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include 'includes/cabecalho.php'; + rodape.php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require = erro fatal se não achar (partes essenciais)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include_once evita inclusão duplicada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Mudou o menu? Edite SÓ o cabecalho.php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44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Reutilização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include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"includes/cabecalho.php"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&lt;h2&gt;Conteúdo da página&lt;/h2&gt;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include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"includes/rodape.php"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Funções — function, parâmetro e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Função = bloco nomeado que faz UMA tarefa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function nome($parametro) { return resultado;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Parâmetro entra · return sai · chamada usa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Vários parâmetros: function soma($a, $b)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Valor padrão: $altura = 1 (parâmetro opcional)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45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Função de saudação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645919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function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saudacao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$nome</a:t>
            </a:r>
            <a:r>
              <a:rPr sz="1350" b="0">
                <a:solidFill>
                  <a:srgbClr val="DCE9F7"/>
                </a:solidFill>
                <a:latin typeface="Consolas"/>
              </a:rPr>
              <a:t>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return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"Olá, $nome!"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saudacao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9ECE6A"/>
                </a:solidFill>
                <a:latin typeface="Consolas"/>
              </a:rPr>
              <a:t>"Ana"</a:t>
            </a:r>
            <a:r>
              <a:rPr sz="1350" b="0">
                <a:solidFill>
                  <a:srgbClr val="DCE9F7"/>
                </a:solidFill>
                <a:latin typeface="Consolas"/>
              </a:rPr>
              <a:t>);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Funções na prática — utilitários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calcularMedia, verificarMaioridade, calcularDesconto, situacao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Funções retornam valores: número, texto ou true/false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if (verificarMaioridade($idade)) — booleano direto na condição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Ternário: cond ? 'Sim' : 'Não'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funcoes.php + require_once = caixa de ferramentas do 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46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Utilitários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7432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function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calcularMedia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$n1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F2777A"/>
                </a:solidFill>
                <a:latin typeface="Consolas"/>
              </a:rPr>
              <a:t>$n2</a:t>
            </a:r>
            <a:r>
              <a:rPr sz="1350" b="0">
                <a:solidFill>
                  <a:srgbClr val="DCE9F7"/>
                </a:solidFill>
                <a:latin typeface="Consolas"/>
              </a:rPr>
              <a:t>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return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$n1</a:t>
            </a:r>
            <a:r>
              <a:rPr sz="1350" b="0">
                <a:solidFill>
                  <a:srgbClr val="DCE9F7"/>
                </a:solidFill>
                <a:latin typeface="Consolas"/>
              </a:rPr>
              <a:t> + </a:t>
            </a:r>
            <a:r>
              <a:rPr sz="1350" b="0">
                <a:solidFill>
                  <a:srgbClr val="F2777A"/>
                </a:solidFill>
                <a:latin typeface="Consolas"/>
              </a:rPr>
              <a:t>$n2</a:t>
            </a:r>
            <a:r>
              <a:rPr sz="1350" b="0">
                <a:solidFill>
                  <a:srgbClr val="DCE9F7"/>
                </a:solidFill>
                <a:latin typeface="Consolas"/>
              </a:rPr>
              <a:t>) / 2;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function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situacao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) {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7) </a:t>
            </a:r>
            <a:r>
              <a:rPr sz="1350" b="0">
                <a:solidFill>
                  <a:srgbClr val="D38AE0"/>
                </a:solidFill>
                <a:latin typeface="Consolas"/>
              </a:rPr>
              <a:t>return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"Aprovado"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if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$media</a:t>
            </a:r>
            <a:r>
              <a:rPr sz="1350" b="0">
                <a:solidFill>
                  <a:srgbClr val="DCE9F7"/>
                </a:solidFill>
                <a:latin typeface="Consolas"/>
              </a:rPr>
              <a:t> &gt;= 5) </a:t>
            </a:r>
            <a:r>
              <a:rPr sz="1350" b="0">
                <a:solidFill>
                  <a:srgbClr val="D38AE0"/>
                </a:solidFill>
                <a:latin typeface="Consolas"/>
              </a:rPr>
              <a:t>return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"Recuperação"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</a:t>
            </a:r>
            <a:r>
              <a:rPr sz="1350" b="0">
                <a:solidFill>
                  <a:srgbClr val="D38AE0"/>
                </a:solidFill>
                <a:latin typeface="Consolas"/>
              </a:rPr>
              <a:t>return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9ECE6A"/>
                </a:solidFill>
                <a:latin typeface="Consolas"/>
              </a:rPr>
              <a:t>"Reprovado"</a:t>
            </a:r>
            <a:r>
              <a:rPr sz="1350" b="0">
                <a:solidFill>
                  <a:srgbClr val="DCE9F7"/>
                </a:solidFill>
                <a:latin typeface="Consolas"/>
              </a:rPr>
              <a:t>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Arrays multidimensionais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Array multidimensional = array de arrays (lista de fichas)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$alunos[0]['nome'] → lista, posição 0, campo nome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Estrutura de tabela: linhas (alunos) × colunas (campos)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foreach aninhado: 1º cada aluno, 2º cada campo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Padrão: calcular média por aluno + acumular a da turma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47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Lista de alunos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= [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</a:t>
            </a:r>
            <a:r>
              <a:rPr sz="1350" b="0">
                <a:solidFill>
                  <a:srgbClr val="9ECE6A"/>
                </a:solidFill>
                <a:latin typeface="Consolas"/>
              </a:rPr>
              <a:t>"Ana"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"nota1"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=&gt;8.0,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"nota2"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=&gt;9.0],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</a:t>
            </a:r>
            <a:r>
              <a:rPr sz="1350" b="0">
                <a:solidFill>
                  <a:srgbClr val="9ECE6A"/>
                </a:solidFill>
                <a:latin typeface="Consolas"/>
              </a:rPr>
              <a:t>"Bruno"</a:t>
            </a:r>
            <a:r>
              <a:rPr sz="1350" b="0">
                <a:solidFill>
                  <a:srgbClr val="DCE9F7"/>
                </a:solidFill>
                <a:latin typeface="Consolas"/>
              </a:rPr>
              <a:t>,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"nota1"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=&gt;6.0, 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"nota2"</a:t>
            </a:r>
            <a:r>
              <a:rPr sz="1350" b="0">
                <a:solidFill>
                  <a:srgbClr val="DCE9F7"/>
                </a:solidFill>
                <a:latin typeface="Consolas"/>
              </a:rPr>
              <a:t>=&gt;7.0],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];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echo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[0][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];  </a:t>
            </a:r>
            <a:r>
              <a:rPr sz="1350" b="0">
                <a:solidFill>
                  <a:srgbClr val="7F96AD"/>
                </a:solidFill>
                <a:latin typeface="Consolas"/>
              </a:rPr>
              <a:t>// 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Projeto: listagem dinâmica de alunos (semana da A2)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 da aula: listar.php com tabela dinâmica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foreach gera / para cada aluno — código único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3 ou 300 alunos: o mesmo código (só o array muda)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Integra: include + funções + arrays multidimensionais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⚠ AVALIAÇÃO 2 (30 pts) — semana 16: HTML + PHP + GET/POST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 · AULA 48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Linha dinâmica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 (</a:t>
            </a:r>
            <a:r>
              <a:rPr sz="1350" b="0">
                <a:solidFill>
                  <a:srgbClr val="F2777A"/>
                </a:solidFill>
                <a:latin typeface="Consolas"/>
              </a:rPr>
              <a:t>$alunos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as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):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&lt;td&gt;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&lt;?=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"nome"</a:t>
            </a:r>
            <a:r>
              <a:rPr sz="1350" b="0">
                <a:solidFill>
                  <a:srgbClr val="DCE9F7"/>
                </a:solidFill>
                <a:latin typeface="Consolas"/>
              </a:rPr>
              <a:t>]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  <a:r>
              <a:rPr sz="1350" b="0">
                <a:solidFill>
                  <a:srgbClr val="DCE9F7"/>
                </a:solidFill>
                <a:latin typeface="Consolas"/>
              </a:rPr>
              <a:t>&lt;/td&gt;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  &lt;td&gt;</a:t>
            </a:r>
            <a:r>
              <a:rPr sz="1350" b="0">
                <a:solidFill>
                  <a:srgbClr val="D38AE0"/>
                </a:solidFill>
                <a:latin typeface="Consolas"/>
              </a:rPr>
              <a:t>&lt;?=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6CB6FF"/>
                </a:solidFill>
                <a:latin typeface="Consolas"/>
              </a:rPr>
              <a:t>situacao</a:t>
            </a:r>
            <a:r>
              <a:rPr sz="1350" b="0">
                <a:solidFill>
                  <a:srgbClr val="DCE9F7"/>
                </a:solidFill>
                <a:latin typeface="Consolas"/>
              </a:rPr>
              <a:t>(</a:t>
            </a:r>
            <a:r>
              <a:rPr sz="1350" b="0">
                <a:solidFill>
                  <a:srgbClr val="F2777A"/>
                </a:solidFill>
                <a:latin typeface="Consolas"/>
              </a:rPr>
              <a:t>$a</a:t>
            </a:r>
            <a:r>
              <a:rPr sz="1350" b="0">
                <a:solidFill>
                  <a:srgbClr val="DCE9F7"/>
                </a:solidFill>
                <a:latin typeface="Consolas"/>
              </a:rPr>
              <a:t>[</a:t>
            </a:r>
            <a:r>
              <a:rPr sz="1350" b="0">
                <a:solidFill>
                  <a:srgbClr val="9ECE6A"/>
                </a:solidFill>
                <a:latin typeface="Consolas"/>
              </a:rPr>
              <a:t>"nota"</a:t>
            </a:r>
            <a:r>
              <a:rPr sz="1350" b="0">
                <a:solidFill>
                  <a:srgbClr val="DCE9F7"/>
                </a:solidFill>
                <a:latin typeface="Consolas"/>
              </a:rPr>
              <a:t>])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  <a:r>
              <a:rPr sz="1350" b="0">
                <a:solidFill>
                  <a:srgbClr val="DCE9F7"/>
                </a:solidFill>
                <a:latin typeface="Consolas"/>
              </a:rPr>
              <a:t>&lt;/td&gt;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  &lt;/tr&gt;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38AE0"/>
                </a:solidFill>
                <a:latin typeface="Consolas"/>
              </a:rPr>
              <a:t>&lt;?php</a:t>
            </a:r>
            <a:r>
              <a:rPr sz="1350" b="0">
                <a:solidFill>
                  <a:srgbClr val="DCE9F7"/>
                </a:solidFill>
                <a:latin typeface="Consolas"/>
              </a:rPr>
              <a:t> </a:t>
            </a:r>
            <a:r>
              <a:rPr sz="1350" b="0">
                <a:solidFill>
                  <a:srgbClr val="D38AE0"/>
                </a:solidFill>
                <a:latin typeface="Consolas"/>
              </a:rPr>
              <a:t>endforeach</a:t>
            </a:r>
            <a:r>
              <a:rPr sz="1350" b="0">
                <a:solidFill>
                  <a:srgbClr val="DCE9F7"/>
                </a:solidFill>
                <a:latin typeface="Consolas"/>
              </a:rPr>
              <a:t>; </a:t>
            </a:r>
            <a:r>
              <a:rPr sz="1350" b="0">
                <a:solidFill>
                  <a:srgbClr val="D38AE0"/>
                </a:solidFill>
                <a:latin typeface="Consolas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Cabeçalho e rodapé reutilizáveis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Na pasta do seu projeto, crie includes/cabecalho.php (DOCTYPE, head, título, menu com 3 links) e includes/rodape.php (footer com o ano atual via date("Y")). Reescreva index.php, cadastro.php e listar.php usando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Caixa de ferramentas (funções)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funcoes.php com: calcularMedia($n1, $n2), verificarMaioridade($idade), calcularDesconto($preco, $percentual) e situacao($media). Crie teste_funcoes.php que as chame com valores de teste e exiba os resultad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Lista de alunos com médias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Crie um array multidimensional com 4 alunos (nome, nota1, nota2). Com foreach: exiba nome e média de cada um (usando calcularMedia do exercício 2) e a situação; ao final, a média geral da turma.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Listagem dinâmica em tabela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[PRÁTICO]  Transforme o exercício 3 em listar.php: tabela HTML com thead/tbody gerada por foreach (colunas: Nome, Média, Situação) + tfoot com a média da turma em colspan. Use cabecalho/rodape via include.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principal vantagem de usar include para o cabeçalho do site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 página carrega mais rápido no navegador.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escrever o cabeçalho uma única vez e reutilizá-lo em todas as páginas.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o Google indexa melhor o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include adiciona estilos CSS automaticamente.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Qual a diferença entre include e require quando o arquivo não é encontrado?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Não há diferença.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include gera erro fatal; require apenas avisa.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require gera erro fatal (para a página); include emite warning e continua.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require só funciona com arquivos PHP e include com HTML.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O que a função a seguir retorna? function dobro($x) { $x * 2; } (chamada: dobro(5))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null — falta a palavra-chave return.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Dado $alunos = [["nome" =&gt; "Ana", "nota" =&gt; 9]], como acessar a nota da primeira aluna?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$alunos["nota"]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$alunos[0]["nota"]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$alunos[1]["nota"]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$alunos[0][0]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10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Em uma página PHP que gera uma tabela com 50 produtos a partir de um array, as tags / são escritas: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50 vezes, uma para cada produto.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uma única vez dentro do foreach, que repete a linha para cada produto.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no CSS, que monta a tabela.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pelo navegador, automaticamente.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2 — 30 pts (semana 16 · aula 48)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Prova obrigatória — pode ser em duplas ou com consulta (Plano de Ensino)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HTML (estrutura a formulários) · PHP (variáveis a arrays/funções) · GET/POST/validação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~60% prática (leitura/escrita de código) + ~40% conceitual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Modelo de prova na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97135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PARTE VI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96596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DESENVOLVIMENTO DO PROJETO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429000"/>
            <a:ext cx="5852160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7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2B4E"/>
                </a:solidFill>
                <a:latin typeface="Segoe UI"/>
              </a:rPr>
              <a:t>AULAS 49 A 72  ·  SEMANAS 17 A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BD4EE"/>
                </a:solidFill>
                <a:latin typeface="Segoe UI"/>
              </a:rPr>
              <a:t>Módulo 12 — Projeto final integrador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14255" y="44805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4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MÓDULO 12  ·  AULAS 49 A 72  ·  SEMANAS 17 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Projeto final integrador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PARTE VI — Desenvolvimento do Projeto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Planejar uma aplicação Web simples: tema, objetivo, usuários e requisitos.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Estruturar o projeto em pastas e arquivos profissionais.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Desenvolver as páginas: inicial (menu), cadastro (formulário), processamento e listagem dinâmica.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Validar dados, tratar erros e testar todas as funcionalidades (tabela de testes).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Identificar e corrigir erros de sintaxe, lógica e execução.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BBD4EE"/>
                </a:solidFill>
                <a:latin typeface="Segoe UI"/>
              </a:rPr>
              <a:t>•  Preparar e apresentar o projeto final (roteiro, demonstração e avaliação).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Definição do projeto: grupos e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PROJETO FINAL (aulas 49–72): aplicação Web em grupo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Integra: HTML + PHP + formulários + validação + arrays + organização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Temas: alunos · contatos · produtos · clientes · biblioteca · tarefas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Grupos de 3–4 com papéis definidos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Simples e COMPLETO &gt; ambicioso e inacabado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Levantamento de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5 perguntas: objetivo · usuários · funcionalidades · páginas · dados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Documento de requisitos = Entrega 1 (1 página)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Requisito bom é concreto e testável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Campos com tipo e regras (obrigatório, faixa de valores)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Planejar evita retrabalho — prática profissional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Estrutura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Esqueleto: index · cadastro · processar · listar · funcoes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+ css/ · imagens/ · includes/ (cabecalho e rodape)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Ordem: estrutura → includes → index → cadastro → processar → listar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Testar no navegador a cada passo concluído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Grupo todo com a MESMA versão dos arquivos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Página inicial, cadastro e processamento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index.php: boas-vindas + menu explicativo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cadastro.php: formulário completo (label, name, required, tipos)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processar.php: POST? → validar ($erros) → sanitizar → confirmar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Erros: exibir todos + link voltar + exit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Reaproveitar o projeto do módulo 11 como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Listagem dinâmica, interface e validação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listar.php: foreach → / + tfoot com count()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Saída da listagem SEMPRE sanitizada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Interface: títulos, menu consistente, mensagens claras, CSS mínimo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Validação do projeto: 6 testes obrigatórios (vazio, inválido, navegação...)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Entrega 4: listagem dinâmica +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Testes: a tabela de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Tabela de testes: teste × entrada × resultado esperado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Para cada funcionalidade: válido + inválido + limite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Escrever o esperado ANTES de executar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Registrar OK/FALHOU — falha vira tarefa de correção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Casos de borda: exatamente no limite (1900, 2026...)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Correção de erros (debugging)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3 tipos: SINTAXE (parse error) · LÓGICA (resultado errado) · EXECUÇÃO (warning)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Mensagem do PHP diz: tipo + arquivo + LINHA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Estratégia: ler → identificar → entender → corrigir → testar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Ferramentas: var_dump + exit, echo 'chegou aqui', comentar blocos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Erro de lógica não avisa — tabela de testes pega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59 ·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Anatomia do erro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2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Parse error: syntax error, unexpected token </a:t>
            </a:r>
            <a:r>
              <a:rPr sz="1350" b="0">
                <a:solidFill>
                  <a:srgbClr val="9ECE6A"/>
                </a:solidFill>
                <a:latin typeface="Consolas"/>
              </a:rPr>
              <a:t>"echo"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in /htdocs/projeto/listar.php on line 24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350" b="0">
                <a:solidFill>
                  <a:srgbClr val="DCE9F7"/>
                </a:solidFill>
                <a:latin typeface="Consolas"/>
              </a:rPr>
              <a:t>→ abrir listar.php, olhar a LINHA 24 (e a anterior!)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Revisão geral da ementa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Revisão cumulativa: Web → ferramentas → HTML → PHP → formulários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Mapa da revisão com os conceitos-chave por bloco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Método ativo: escrever código sem consultar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Refaça os testes rápidos dos módulos 1 a 11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A3: prova final individual (30) + projeto/apresentação (10)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Aulas 61 a 69 — desenvolvimento guiado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Semanas 21–23: desenvolvimento da versão final (prática)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Semana 21: planejamento + estrutura + página inicial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Semana 22: formulários + processamento + listagem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Semana 23: validação + erros + testes → Entrega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Checklist de 12 itens acompanha o progresso do grupo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 · AULA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Aulas 70 a 72 — finalização e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Aula 70: correções finais + prova escrita final (A3 — 30 pts) (S)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Aula 71: roteiro da apresentação (5 partes, 5–8 min)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Demonstração: cadastro válido + inválido + listagem + código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Ensaio: dados prontos, cronômetro, todos falam, plano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F2937"/>
                </a:solidFill>
                <a:latin typeface="Segoe UI"/>
              </a:rPr>
              <a:t>•  Aula 72: apresentações + avaliação final (10 pts) + encerramento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8404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4048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6206"/>
                </a:solidFill>
                <a:latin typeface="Segoe UI"/>
              </a:rPr>
              <a:t>EXERCÍCIOS PRÁTICOS — MÓDULO 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1606F"/>
                </a:solidFill>
                <a:latin typeface="Segoe UI"/>
              </a:rPr>
              <a:t>Resolva no laboratório · complete em casa pelo 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1.  Documento de requisitos do grupo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Preencham o modelo requisitos.txt (aula 50) com o tema escolhido: objetivo, usuários, funcionalidades, páginas e dados (campos com tipo e regras). Vale como Entrega 1 do projeto final (S).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2.  Tabela de testes do sistema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Montem a tabela de testes do sistema do grupo com no mínimo 6 casos: para cada funcionalidade, 1 teste válido, 1 inválido e 1 de limite. Colunas: #, teste, entrada, resultado esperado, resultado obtido, OK/FALH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3.  Caça-erros do projeto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[ESCRITO]  O trecho abaixo (de um listar.php) tem 3 erros: um de sintaxe, um de lógica e um de segurança. Identifique-os, classifique-os e corrija: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0D2B4E"/>
                </a:solidFill>
                <a:latin typeface="Segoe UI"/>
              </a:rPr>
              <a:t>4.  Ensaio da apresentação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1606F"/>
                </a:solidFill>
                <a:latin typeface="Segoe UI"/>
              </a:rPr>
              <a:t>     [GRUPO]  Sigam o roteiro da aula 71 e ensaiem com cronômetro: abertura, objetivo, demonstração (válido + inválido + listagem + código), dificuldades e encerramento. Gravem um vídeo do ensaio (celular) e autoavaliem: 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ordem recomendada de construção do projeto final 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listagem → formulário → estrutura → includes.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estrutura e includes → página inicial → cadastro → processamento → listagem.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CSS → imagens → formulários → PHP.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apresentação → código → testes.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Um requisito bem escrito se caracteriza por ser: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curto e genérico, como ‘o sistema deve ser bom’.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concreto e testável, como ‘a listagem exibe título, autor e disponibilidade em tabela’.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escrito em inglês técnico.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aprovado por todos os grupos da turma.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tabela de testes, além dos casos válidos e inválidos, os ‘testes de limite’ servem para: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testar o sistema em outros navegadores.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verificar o comportamento exatamente nas bordas das regras (ex.: ano mínimo e máximo).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medir a velocidade da página.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testar apenas campos obrigatórios.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A mensagem “Parse error: syntax error ... in listar.php on line 24” indica um erro 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lógica — o resultado do cálculo está errado.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execução — a variável não existe.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sintaxe — o código viola as regras da linguagem; deve-se abrir o arquivo na linha indicada.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segurança — dados não sanitizados.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365760"/>
            <a:ext cx="11064240" cy="658368"/>
          </a:xfrm>
          <a:prstGeom prst="roundRect">
            <a:avLst>
              <a:gd name="adj" fmla="val 16000"/>
            </a:avLst>
          </a:prstGeom>
          <a:solidFill>
            <a:srgbClr val="1B5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TESTE RÁPIDO — MÓDULO 12   ·   QUESTÃO 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937"/>
                </a:solidFill>
                <a:latin typeface="Segoe UI"/>
              </a:rPr>
              <a:t>Na demonstração da apresentação final (aula 72), o roteiro prevê mostrar: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0604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609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apenas a página inicial do sistema.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7472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478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somente o código-fonte completo, lido linha a linha.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1655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9826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cadastro válido, uma tentativa inválida com as mensagens de erro e a listagem dinâmica.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12080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5FAA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6694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F2937"/>
                </a:solidFill>
                <a:latin typeface="Segoe UI"/>
              </a:rPr>
              <a:t>um vídeo pronto, sem executar o sistema ao vivo.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1606F"/>
                </a:solidFill>
                <a:latin typeface="Segoe UI"/>
              </a:rPr>
              <a:t>Resposta do professor: ver notas do apresentador (F5 → anotações).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MÓDULO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Avaliação à vista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46304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0332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9A6206"/>
                </a:solidFill>
                <a:latin typeface="Segoe UI"/>
              </a:rPr>
              <a:t>AVALIAÇÃO 3 — 40 pts (semana 24)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Prova escrita final individual e cumulativa — 30 pts (aulas 70–71)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Projeto integrador: entregas parciais + apresentação — 10 pts (aula 72)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F2937"/>
                </a:solidFill>
                <a:latin typeface="Segoe UI"/>
              </a:rPr>
              <a:t>•  Rubrica do projeto na seção AVALIAÇÕES da apostila.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3931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6206"/>
                </a:solidFill>
                <a:latin typeface="Segoe UI"/>
              </a:rPr>
              <a:t>AULAS 49 A 72 · SEMANAS 17 A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D2B4E"/>
                </a:solidFill>
                <a:latin typeface="Segoe UI"/>
              </a:rPr>
              <a:t>Projeto Final Integrador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O QUE 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F2937"/>
                </a:solidFill>
                <a:latin typeface="Segoe UI"/>
              </a:rPr>
              <a:t>Aplicação Web simples e funcional desenvolvida em grupos, integrando HTML (estrutura e conteúdo), PHP (processamento e conteúdo dinâmico), formulários (entrada de dados), validação (controle dos dados), arrays (armazenamento temporário) e organização de arquivos (estrutura do projeto).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TEMAS SUGERIDOS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Cadastro de alunos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Agenda de contatos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Catálogo de produtos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Sistema de contatos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Cadastro de clientes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Biblioteca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•  Controle de tarefas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846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ENTREGAS (6)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1 — Proposta do projeto e requisitos (tema, objetivo, usuários, funcionali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2 — Estrutura de arquivos/pastas e página inicial com menu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3 — Página de cadastro (formulário completo) e processamento PHP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4 — Listagem dinâmica, interface e validação do projeto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5 — Versão testada: testes, tratamento de erros e correções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Entrega 6 — Versão final + apresentação do projeto (aula 72)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5FAA"/>
                </a:solidFill>
                <a:latin typeface="Segoe UI"/>
              </a:rPr>
              <a:t>CRITÉRIOS (10 pts)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Funcionalidade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Organização dos arquivos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Qualidade do código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Uso correto de HTML e PHP (2,0)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Segoe UI"/>
              </a:rPr>
              <a:t>•  Apresentação e demonstração (2,0)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1606F"/>
                </a:solidFill>
                <a:latin typeface="Segoe UI"/>
              </a:rPr>
              <a:t>PROGRAMAÇÃO PARA INTERNET I · CURSO TÉCNICO EM INFORMÁTICA · TURMA 2/2026  ·  PARTE 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67567" y="6492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Bons estudos e bom código!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23774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BD4EE"/>
                </a:solidFill>
                <a:latin typeface="Segoe UI"/>
              </a:rPr>
              <a:t>Programação para Internet I · Curso Técnico em Informática · Turma 2/2026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4EE"/>
                </a:solidFill>
                <a:latin typeface="Segoe UI"/>
              </a:rPr>
              <a:t>Apostila (aluno e professor), testes rápidos e modelos de prova: disponíveis no material da disciplina.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172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
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LINGUAGEM DE PROGRAMAÇÃO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Planejamento de 6 meses • 4 aulas por semana • 24 semanas • 96 aulas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Premissas do planejamento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Disciplina: Linguagem de Programação II — Curso Técnico em Informática — Turma 2/2026.</a:t>
            </a:r>
          </a:p>
          <a:p>
            <a:pPr>
              <a:spcAft>
                <a:spcPts val="900"/>
              </a:spcAft>
              <a:defRPr sz="1700"/>
            </a:pPr>
            <a:r>
              <a:t>Plano de ensino informa 80 horas teóricas e práticas, 14 horas não presenciais e 4 aulas semanais.</a:t>
            </a:r>
          </a:p>
          <a:p>
            <a:pPr>
              <a:spcAft>
                <a:spcPts val="900"/>
              </a:spcAft>
              <a:defRPr sz="1700"/>
            </a:pPr>
            <a:r>
              <a:t>Para compatibilizar 80 horas presenciais com 4 aulas semanais durante 24 semanas, foi considerada aula de 50 minutos: 96 aulas = 80 horas.</a:t>
            </a:r>
          </a:p>
          <a:p>
            <a:pPr>
              <a:spcAft>
                <a:spcPts val="900"/>
              </a:spcAft>
              <a:defRPr sz="1700"/>
            </a:pPr>
            <a:r>
              <a:t>As 14 horas não presenciais são tratadas como atividades complementares distribuídas ao longo do semestre.</a:t>
            </a:r>
          </a:p>
          <a:p>
            <a:pPr>
              <a:spcAft>
                <a:spcPts val="900"/>
              </a:spcAft>
              <a:defRPr sz="1700"/>
            </a:pPr>
            <a:r>
              <a:t>O cronograma usa a ementa do documento como fonte principal e organiza os tópicos em uma sequência progressiva.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Ementa — tópicos contemplados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SGBD: instalação, configuração, conexão e programação de instruções SQL.</a:t>
            </a:r>
          </a:p>
          <a:p>
            <a:pPr>
              <a:spcAft>
                <a:spcPts val="900"/>
              </a:spcAft>
              <a:defRPr sz="1700"/>
            </a:pPr>
            <a:r>
              <a:t>Programação gráfica em ambiente DOS e recursos gráficos.</a:t>
            </a:r>
          </a:p>
          <a:p>
            <a:pPr>
              <a:spcAft>
                <a:spcPts val="900"/>
              </a:spcAft>
              <a:defRPr sz="1700"/>
            </a:pPr>
            <a:r>
              <a:t>Programação estruturada; vetor, matriz e registro; técnicas de modularização.</a:t>
            </a:r>
          </a:p>
          <a:p>
            <a:pPr>
              <a:spcAft>
                <a:spcPts val="900"/>
              </a:spcAft>
              <a:defRPr sz="1700"/>
            </a:pPr>
            <a:r>
              <a:t>Variáveis do tipo String.</a:t>
            </a:r>
          </a:p>
          <a:p>
            <a:pPr>
              <a:spcAft>
                <a:spcPts val="900"/>
              </a:spcAft>
              <a:defRPr sz="1700"/>
            </a:pPr>
            <a:r>
              <a:t>Arquivos e textos para transferência de dados.</a:t>
            </a:r>
          </a:p>
          <a:p>
            <a:pPr>
              <a:spcAft>
                <a:spcPts val="900"/>
              </a:spcAft>
              <a:defRPr sz="1700"/>
            </a:pPr>
            <a:r>
              <a:t>Manipulação de dados Cliente/Servidor.</a:t>
            </a:r>
          </a:p>
          <a:p>
            <a:pPr>
              <a:spcAft>
                <a:spcPts val="900"/>
              </a:spcAft>
              <a:defRPr sz="1700"/>
            </a:pPr>
            <a:r>
              <a:t>Backup e recuperação de Banco de Dados.</a:t>
            </a:r>
          </a:p>
          <a:p>
            <a:pPr>
              <a:spcAft>
                <a:spcPts val="900"/>
              </a:spcAft>
              <a:defRPr sz="1700"/>
            </a:pPr>
            <a:r>
              <a:t>Geração de relatórios; impressão e geração de documentos fiscais.</a:t>
            </a:r>
          </a:p>
          <a:p>
            <a:pPr>
              <a:spcAft>
                <a:spcPts val="900"/>
              </a:spcAft>
              <a:defRPr sz="1700"/>
            </a:pPr>
            <a:r>
              <a:t>Criação do disco de instalação do programa.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Exposição de conceitos, exemplos e atividades em sala.</a:t>
            </a:r>
          </a:p>
          <a:p>
            <a:pPr>
              <a:spcAft>
                <a:spcPts val="900"/>
              </a:spcAft>
              <a:defRPr sz="1700"/>
            </a:pPr>
            <a:r>
              <a:t>Aula expositiva dialogada e aula invertida.</a:t>
            </a:r>
          </a:p>
          <a:p>
            <a:pPr>
              <a:spcAft>
                <a:spcPts val="900"/>
              </a:spcAft>
              <a:defRPr sz="1700"/>
            </a:pPr>
            <a:r>
              <a:t>Exercícios individuais e em grupo para fixação e aplicação prática.</a:t>
            </a:r>
          </a:p>
          <a:p>
            <a:pPr>
              <a:spcAft>
                <a:spcPts val="900"/>
              </a:spcAft>
              <a:defRPr sz="1700"/>
            </a:pPr>
            <a:r>
              <a:t>Estudos de caso para fortalecer análise crítica.</a:t>
            </a:r>
          </a:p>
          <a:p>
            <a:pPr>
              <a:spcAft>
                <a:spcPts val="900"/>
              </a:spcAft>
              <a:defRPr sz="1700"/>
            </a:pPr>
            <a:r>
              <a:t>Projeto integrador para conectar os principais conteúdos no final do semestre.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Avaliação — conforme o Plano de Ensino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1ª avaliação: 30 pontos, a critério do professor (trabalhos, seminários, testes etc., admitindo prova).</a:t>
            </a:r>
          </a:p>
          <a:p>
            <a:pPr>
              <a:spcAft>
                <a:spcPts val="900"/>
              </a:spcAft>
              <a:defRPr sz="1700"/>
            </a:pPr>
            <a:r>
              <a:t>2ª avaliação: 30 pontos, obrigatoriamente por meio de prova, podendo ser em duplas ou com consulta.</a:t>
            </a:r>
          </a:p>
          <a:p>
            <a:pPr>
              <a:spcAft>
                <a:spcPts val="900"/>
              </a:spcAft>
              <a:defRPr sz="1700"/>
            </a:pPr>
            <a:r>
              <a:t>3ª avaliação: 40 pontos: 30 pontos obrigatoriatoriamente em prova escrita final individual + 10 pontos a critério do professor.</a:t>
            </a:r>
          </a:p>
          <a:p>
            <a:pPr>
              <a:spcAft>
                <a:spcPts val="900"/>
              </a:spcAft>
              <a:defRPr sz="1700"/>
            </a:pPr>
            <a:r>
              <a:t>Total do semestre: 100 pontos.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Semanas 01–04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4937760"/>
                <a:gridCol w="3017520"/>
              </a:tblGrid>
              <a:tr h="106070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Conteúdos / 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Estratégia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Ambientação e visão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Apresentação da disciplina; linguagem de programação estruturada; arquitetura geral do projeto; organização do ambiente.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Exposição dialogada + diagnóstico + exercício inicial.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SGBD — instalação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Requisitos do SGBD para a linguagem; instalação; configuração; validação do ambiente.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Prática guiada de instalação/configuração.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SGBD — conexão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Conceitos de conexão; parâmetros; abertura/fechamento de conexão; tratamento básico de falhas.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de conexão.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SQL — fundamentos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Programação de instruções SQL; criação/consulta de dados; comandos básicos aplicados à linguagem.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Exercícios práticos de SQL.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Semanas 05–08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4937760"/>
                <a:gridCol w="3017520"/>
              </a:tblGrid>
              <a:tr h="106070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Conteúdos / 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Estratégia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SQL — manipulação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Inserção, alteração e exclusão de dados; integração das instruções SQL ao programa.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Lista prática + correção dialogada.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SQL — consultas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Consultas e filtros; organização das consultas; aplicação em cenários de dados.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Estudo de caso + laboratório.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Programação estruturada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Estruturação de programas; sequência, seleção e repetição; organização lógica do código.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Exposição + exercícios individuais e em grupo.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Vetores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Estruturação de dados com vetor; declaração, preenchimento, leitura e processamento.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de vetores.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Semanas 09–12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4937760"/>
                <a:gridCol w="3017520"/>
              </a:tblGrid>
              <a:tr h="106070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Conteúdos / 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Estratégia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Matrizes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Estruturação de dados com matriz; acesso, preenchimento e processamento de linhas/colunas.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de matrizes.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Registros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Estruturação de dados com registro; agrupamento de informações relacionadas; uso no programa.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Prática orientada com registros.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Strings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Variáveis do tipo String; armazenamento, leitura e manipulação de textos.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de Strings.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Modularização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Técnicas de modularização; divisão do programa em partes; reutilização e organização.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Refatoração de exercícios.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Semanas 13–16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4937760"/>
                <a:gridCol w="3017520"/>
              </a:tblGrid>
              <a:tr h="106070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Conteúdos / 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Estratégia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Arquivos e textos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Arquivos e textos como forma de transferência de dados; leitura e gravação.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de arquivos.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Arquivos +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Integração entre arquivos/textos e dados do programa; importação/exportação em fluxo controlado.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Estudo de caso + prática.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Cliente/Servidor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Manipulação de dados em ambiente Cliente/Servidor; fluxo entre aplicação e banco.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Aula prática de integração.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Cliente/Servidor — prática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Operações com dados em ambiente Cliente/Servidor; validação e tratamento de problemas.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+ atividade em grupo.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Semanas 17–20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4937760"/>
                <a:gridCol w="3017520"/>
              </a:tblGrid>
              <a:tr h="106070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Conteúdos / 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Estratégia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Backup de Banco de Dados; finalidade, organização e execução de procedimentos de cópia.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Demonstração + prática.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Recuperação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Recuperação de Banco de Dados; procedimentos e validação após recuperação.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de backup/recuperação.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Relatórios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Geração de relatórios; seleção de dados; organização e apresentação das informações.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Projeto prático de relatório.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Impressão e documentos fiscais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Impressão e geração de documentos fiscais; organização da saída e preparação para impressão.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Demonstração + prática.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Semanas 21–24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4937760"/>
                <a:gridCol w="3017520"/>
              </a:tblGrid>
              <a:tr h="106070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Conteúdos / 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Estratégia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Disco de instalação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Criação do disco de instalação do programa; preparação e organização dos arquivos necessários.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Oficina prática.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Recursos gráficos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Programação gráfica em ambiente DOS; recursos gráficos e aplicações básicas.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Laboratório gráfico.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Integração do 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Integração: banco + SQL + estruturas + modularização + arquivos + relatórios + recursos gráficos.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Projeto integrador + acompanhamento.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Consolidação e avaliação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Revisão geral; finalização/apresentação do projeto; avaliação final escrita e atividade de encerramento.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Revisão + prova final + fechamento.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Sugestão de distribuição das atividades não presenciais — 14h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Semanas 2–4: 2h — preparação do ambiente e leitura/orientação sobre SGBD e conexão.</a:t>
            </a:r>
          </a:p>
          <a:p>
            <a:pPr>
              <a:spcAft>
                <a:spcPts val="900"/>
              </a:spcAft>
              <a:defRPr sz="1700"/>
            </a:pPr>
            <a:r>
              <a:t>Semanas 7–10: 3h — exercícios de programação estruturada, vetor, matriz e registro.</a:t>
            </a:r>
          </a:p>
          <a:p>
            <a:pPr>
              <a:spcAft>
                <a:spcPts val="900"/>
              </a:spcAft>
              <a:defRPr sz="1700"/>
            </a:pPr>
            <a:r>
              <a:t>Semanas 11–14: 3h — atividades sobre String, modularização e arquivos/textos.</a:t>
            </a:r>
          </a:p>
          <a:p>
            <a:pPr>
              <a:spcAft>
                <a:spcPts val="900"/>
              </a:spcAft>
              <a:defRPr sz="1700"/>
            </a:pPr>
            <a:r>
              <a:t>Semanas 15–18: 2h — estudo orientado sobre Cliente/Servidor, backup e recuperação.</a:t>
            </a:r>
          </a:p>
          <a:p>
            <a:pPr>
              <a:spcAft>
                <a:spcPts val="900"/>
              </a:spcAft>
              <a:defRPr sz="1700"/>
            </a:pPr>
            <a:r>
              <a:t>Semanas 19–22: 2h — preparação de relatórios, documentos e instalação.</a:t>
            </a:r>
          </a:p>
          <a:p>
            <a:pPr>
              <a:spcAft>
                <a:spcPts val="900"/>
              </a:spcAft>
              <a:defRPr sz="1700"/>
            </a:pPr>
            <a:r>
              <a:t>Semanas 23–24: 2h — consolidação e preparação do projeto/avaliação final.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Projeto integrador — semanas 23 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Organizar um programa que reúna, conforme a viabilidade do ambiente, estruturas de dados, modularização, String, arquivos/textos e conexão com banco.</a:t>
            </a:r>
          </a:p>
          <a:p>
            <a:pPr>
              <a:spcAft>
                <a:spcPts val="900"/>
              </a:spcAft>
              <a:defRPr sz="1700"/>
            </a:pPr>
            <a:r>
              <a:t>Aplicar instruções SQL e manipulação de dados.</a:t>
            </a:r>
          </a:p>
          <a:p>
            <a:pPr>
              <a:spcAft>
                <a:spcPts val="900"/>
              </a:spcAft>
              <a:defRPr sz="1700"/>
            </a:pPr>
            <a:r>
              <a:t>Incluir geração de relatório e/ou saída para impressão/documento.</a:t>
            </a:r>
          </a:p>
          <a:p>
            <a:pPr>
              <a:spcAft>
                <a:spcPts val="900"/>
              </a:spcAft>
              <a:defRPr sz="1700"/>
            </a:pPr>
            <a:r>
              <a:t>Preparar os arquivos necessários à instalação/distribuição do programa.</a:t>
            </a:r>
          </a:p>
          <a:p>
            <a:pPr>
              <a:spcAft>
                <a:spcPts val="900"/>
              </a:spcAft>
              <a:defRPr sz="1700"/>
            </a:pPr>
            <a:r>
              <a:t>Utilizar recursos gráficos quando pertinente ao ambiente trabalhado.</a:t>
            </a:r>
          </a:p>
          <a:p>
            <a:pPr>
              <a:spcAft>
                <a:spcPts val="900"/>
              </a:spcAft>
              <a:defRPr sz="1700"/>
            </a:pPr>
            <a:r>
              <a:t>Apresentar, testar e revisar o projeto antes do encerramento.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Observação sobre o documento-fonte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O Plano de Ensino enviado contém objetivos específicos relacionados à enfermagem, incompatíveis com a disciplina de Linguagem de Programação II.</a:t>
            </a:r>
          </a:p>
          <a:p>
            <a:pPr>
              <a:spcAft>
                <a:spcPts val="900"/>
              </a:spcAft>
              <a:defRPr sz="1700"/>
            </a:pPr>
            <a:r>
              <a:t>Por segurança pedagógica, esses objetivos não foram usados para construir o cronograma.</a:t>
            </a:r>
          </a:p>
          <a:p>
            <a:pPr>
              <a:spcAft>
                <a:spcPts val="900"/>
              </a:spcAft>
              <a:defRPr sz="1700"/>
            </a:pPr>
            <a:r>
              <a:t>O planejamento foi fundamentado nos dados da disciplina, na ementa, nas estratégias de ensino, na avaliação e na bibliografia apresentadas no próprio documento.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Entregáveis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PDF: cronograma semestral com visão geral e detalhamento das 96 aulas.</a:t>
            </a:r>
          </a:p>
          <a:p>
            <a:pPr>
              <a:spcAft>
                <a:spcPts val="900"/>
              </a:spcAft>
              <a:defRPr sz="1700"/>
            </a:pPr>
            <a:r>
              <a:t>PPTX: apresentação pronta para reunião pedagógica, planejamento docente ou apresentação da disciplina.</a:t>
            </a:r>
          </a:p>
          <a:p>
            <a:pPr>
              <a:spcAft>
                <a:spcPts val="900"/>
              </a:spcAft>
              <a:defRPr sz="1700"/>
            </a:pPr>
            <a:r>
              <a:t>O planejamento pode receber datas reais depois que forem informados o início do semestre, feriados/recessos e duração exata de cada aula.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